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6907"/>
  </p:normalViewPr>
  <p:slideViewPr>
    <p:cSldViewPr snapToGrid="0">
      <p:cViewPr varScale="1">
        <p:scale>
          <a:sx n="118" d="100"/>
          <a:sy n="118" d="100"/>
        </p:scale>
        <p:origin x="5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Wilton, organizei a proposta usando as telas do AMT como referência para ampliar nossa visão do produto. Elas ajudam a enxergar como cadastro, estratégia, execução e custos se relacionam. Quero usar essa estrutura para discutirmos o que precisamos construir primeiro e o que devemos preparar para o futuro. O material mostra módulos e menus, mas não comprova todas as regras de funcionamento. Por isso, vamos separar a referência do AMT das decisões que ainda precisamos tomar para a LumiMining.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 </a:t>
            </a:r>
            <a:r>
              <a:rPr dirty="0" err="1"/>
              <a:t>propósito</a:t>
            </a:r>
            <a:r>
              <a:rPr dirty="0"/>
              <a:t> continua </a:t>
            </a:r>
            <a:r>
              <a:rPr dirty="0" err="1"/>
              <a:t>sendo</a:t>
            </a:r>
            <a:r>
              <a:rPr dirty="0"/>
              <a:t> </a:t>
            </a:r>
            <a:r>
              <a:rPr dirty="0" err="1"/>
              <a:t>facilitar</a:t>
            </a:r>
            <a:r>
              <a:rPr dirty="0"/>
              <a:t> a </a:t>
            </a:r>
            <a:r>
              <a:rPr dirty="0" err="1"/>
              <a:t>manutenção</a:t>
            </a:r>
            <a:r>
              <a:rPr dirty="0"/>
              <a:t> no </a:t>
            </a:r>
            <a:r>
              <a:rPr dirty="0" err="1"/>
              <a:t>dia</a:t>
            </a:r>
            <a:r>
              <a:rPr dirty="0"/>
              <a:t> a dia. A </a:t>
            </a:r>
            <a:r>
              <a:rPr dirty="0" err="1"/>
              <a:t>diferença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agora </a:t>
            </a:r>
            <a:r>
              <a:rPr dirty="0" err="1"/>
              <a:t>estamos</a:t>
            </a:r>
            <a:r>
              <a:rPr dirty="0"/>
              <a:t> </a:t>
            </a:r>
            <a:r>
              <a:rPr dirty="0" err="1"/>
              <a:t>deixando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claro </a:t>
            </a:r>
            <a:r>
              <a:rPr dirty="0" err="1"/>
              <a:t>como</a:t>
            </a:r>
            <a:r>
              <a:rPr dirty="0"/>
              <a:t> o </a:t>
            </a:r>
            <a:r>
              <a:rPr dirty="0" err="1"/>
              <a:t>trabalho</a:t>
            </a:r>
            <a:r>
              <a:rPr dirty="0"/>
              <a:t> </a:t>
            </a:r>
            <a:r>
              <a:rPr dirty="0" err="1"/>
              <a:t>realizado</a:t>
            </a:r>
            <a:r>
              <a:rPr dirty="0"/>
              <a:t> </a:t>
            </a:r>
            <a:r>
              <a:rPr dirty="0" err="1"/>
              <a:t>alimenta</a:t>
            </a:r>
            <a:r>
              <a:rPr dirty="0"/>
              <a:t> a </a:t>
            </a:r>
            <a:r>
              <a:rPr dirty="0" err="1"/>
              <a:t>gestão</a:t>
            </a:r>
            <a:r>
              <a:rPr dirty="0"/>
              <a:t> do </a:t>
            </a:r>
            <a:r>
              <a:rPr dirty="0" err="1"/>
              <a:t>ativo</a:t>
            </a:r>
            <a:r>
              <a:rPr dirty="0"/>
              <a:t>. Uma </a:t>
            </a:r>
            <a:r>
              <a:rPr dirty="0" err="1"/>
              <a:t>ordem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</a:t>
            </a:r>
            <a:r>
              <a:rPr dirty="0" err="1"/>
              <a:t>registrada</a:t>
            </a:r>
            <a:r>
              <a:rPr dirty="0"/>
              <a:t> </a:t>
            </a:r>
            <a:r>
              <a:rPr dirty="0" err="1"/>
              <a:t>ajuda</a:t>
            </a:r>
            <a:r>
              <a:rPr dirty="0"/>
              <a:t> a </a:t>
            </a:r>
            <a:r>
              <a:rPr dirty="0" err="1"/>
              <a:t>entender</a:t>
            </a:r>
            <a:r>
              <a:rPr dirty="0"/>
              <a:t> o </a:t>
            </a:r>
            <a:r>
              <a:rPr dirty="0" err="1"/>
              <a:t>componente</a:t>
            </a:r>
            <a:r>
              <a:rPr dirty="0"/>
              <a:t>, o </a:t>
            </a:r>
            <a:r>
              <a:rPr dirty="0" err="1"/>
              <a:t>custo</a:t>
            </a:r>
            <a:r>
              <a:rPr dirty="0"/>
              <a:t> e a </a:t>
            </a:r>
            <a:r>
              <a:rPr dirty="0" err="1"/>
              <a:t>recorrência</a:t>
            </a:r>
            <a:r>
              <a:rPr dirty="0"/>
              <a:t> da </a:t>
            </a:r>
            <a:r>
              <a:rPr dirty="0" err="1"/>
              <a:t>falha</a:t>
            </a:r>
            <a:r>
              <a:rPr dirty="0"/>
              <a:t>. Minha </a:t>
            </a:r>
            <a:r>
              <a:rPr dirty="0" err="1"/>
              <a:t>proposta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entregar</a:t>
            </a:r>
            <a:r>
              <a:rPr dirty="0"/>
              <a:t> valor para quem </a:t>
            </a:r>
            <a:r>
              <a:rPr dirty="0" err="1"/>
              <a:t>executa</a:t>
            </a:r>
            <a:r>
              <a:rPr dirty="0"/>
              <a:t> o </a:t>
            </a:r>
            <a:r>
              <a:rPr dirty="0" err="1"/>
              <a:t>serviço</a:t>
            </a:r>
            <a:r>
              <a:rPr dirty="0"/>
              <a:t> e, a </a:t>
            </a:r>
            <a:r>
              <a:rPr dirty="0" err="1"/>
              <a:t>partir</a:t>
            </a:r>
            <a:r>
              <a:rPr dirty="0"/>
              <a:t> </a:t>
            </a:r>
            <a:r>
              <a:rPr dirty="0" err="1"/>
              <a:t>desses</a:t>
            </a:r>
            <a:r>
              <a:rPr dirty="0"/>
              <a:t> </a:t>
            </a:r>
            <a:r>
              <a:rPr dirty="0" err="1"/>
              <a:t>registros</a:t>
            </a:r>
            <a:r>
              <a:rPr dirty="0"/>
              <a:t>, </a:t>
            </a:r>
            <a:r>
              <a:rPr dirty="0" err="1"/>
              <a:t>apoiar</a:t>
            </a:r>
            <a:r>
              <a:rPr dirty="0"/>
              <a:t> quem </a:t>
            </a:r>
            <a:r>
              <a:rPr dirty="0" err="1"/>
              <a:t>planeja</a:t>
            </a:r>
            <a:r>
              <a:rPr dirty="0"/>
              <a:t> e decide. </a:t>
            </a:r>
            <a:r>
              <a:rPr dirty="0" err="1"/>
              <a:t>Precisamos</a:t>
            </a:r>
            <a:r>
              <a:rPr dirty="0"/>
              <a:t> </a:t>
            </a:r>
            <a:r>
              <a:rPr dirty="0" err="1"/>
              <a:t>confirmar</a:t>
            </a:r>
            <a:r>
              <a:rPr dirty="0"/>
              <a:t> qual </a:t>
            </a:r>
            <a:r>
              <a:rPr dirty="0" err="1"/>
              <a:t>perfil</a:t>
            </a:r>
            <a:r>
              <a:rPr dirty="0"/>
              <a:t> de </a:t>
            </a:r>
            <a:r>
              <a:rPr dirty="0" err="1"/>
              <a:t>cliente</a:t>
            </a:r>
            <a:r>
              <a:rPr dirty="0"/>
              <a:t> e qual </a:t>
            </a:r>
            <a:r>
              <a:rPr dirty="0" err="1"/>
              <a:t>classe</a:t>
            </a:r>
            <a:r>
              <a:rPr dirty="0"/>
              <a:t> de </a:t>
            </a:r>
            <a:r>
              <a:rPr dirty="0" err="1"/>
              <a:t>equipamento</a:t>
            </a:r>
            <a:r>
              <a:rPr dirty="0"/>
              <a:t> </a:t>
            </a:r>
            <a:r>
              <a:rPr dirty="0" err="1"/>
              <a:t>serão</a:t>
            </a:r>
            <a:r>
              <a:rPr dirty="0"/>
              <a:t> </a:t>
            </a:r>
            <a:r>
              <a:rPr dirty="0" err="1"/>
              <a:t>nosso</a:t>
            </a:r>
            <a:r>
              <a:rPr dirty="0"/>
              <a:t> </a:t>
            </a:r>
            <a:r>
              <a:rPr dirty="0" err="1"/>
              <a:t>primeiro</a:t>
            </a:r>
            <a:r>
              <a:rPr dirty="0"/>
              <a:t> </a:t>
            </a:r>
            <a:r>
              <a:rPr dirty="0" err="1"/>
              <a:t>foco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 </a:t>
            </a:r>
            <a:r>
              <a:rPr dirty="0" err="1"/>
              <a:t>anexo</a:t>
            </a:r>
            <a:r>
              <a:rPr dirty="0"/>
              <a:t> </a:t>
            </a:r>
            <a:r>
              <a:rPr dirty="0" err="1"/>
              <a:t>mostra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estrutura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ampla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controle</a:t>
            </a:r>
            <a:r>
              <a:rPr dirty="0"/>
              <a:t> de </a:t>
            </a:r>
            <a:r>
              <a:rPr dirty="0" err="1"/>
              <a:t>ordens</a:t>
            </a:r>
            <a:r>
              <a:rPr dirty="0"/>
              <a:t>. </a:t>
            </a:r>
            <a:r>
              <a:rPr dirty="0" err="1"/>
              <a:t>Temos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base de dados e </a:t>
            </a:r>
            <a:r>
              <a:rPr dirty="0" err="1"/>
              <a:t>conhecimento</a:t>
            </a:r>
            <a:r>
              <a:rPr dirty="0"/>
              <a:t>, a </a:t>
            </a:r>
            <a:r>
              <a:rPr dirty="0" err="1"/>
              <a:t>rotina</a:t>
            </a:r>
            <a:r>
              <a:rPr dirty="0"/>
              <a:t> de </a:t>
            </a:r>
            <a:r>
              <a:rPr dirty="0" err="1"/>
              <a:t>manutenção</a:t>
            </a:r>
            <a:r>
              <a:rPr dirty="0"/>
              <a:t>, o </a:t>
            </a:r>
            <a:r>
              <a:rPr dirty="0" err="1"/>
              <a:t>planejamento</a:t>
            </a:r>
            <a:r>
              <a:rPr dirty="0"/>
              <a:t> e as </a:t>
            </a:r>
            <a:r>
              <a:rPr dirty="0" err="1"/>
              <a:t>análises</a:t>
            </a:r>
            <a:r>
              <a:rPr dirty="0"/>
              <a:t> de </a:t>
            </a:r>
            <a:r>
              <a:rPr dirty="0" err="1"/>
              <a:t>longo</a:t>
            </a:r>
            <a:r>
              <a:rPr dirty="0"/>
              <a:t> </a:t>
            </a:r>
            <a:r>
              <a:rPr dirty="0" err="1"/>
              <a:t>prazo</a:t>
            </a:r>
            <a:r>
              <a:rPr dirty="0"/>
              <a:t>.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aparecem</a:t>
            </a:r>
            <a:r>
              <a:rPr dirty="0"/>
              <a:t> </a:t>
            </a:r>
            <a:r>
              <a:rPr dirty="0" err="1"/>
              <a:t>áreas</a:t>
            </a:r>
            <a:r>
              <a:rPr dirty="0"/>
              <a:t> </a:t>
            </a:r>
            <a:r>
              <a:rPr dirty="0" err="1"/>
              <a:t>especializadas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contratos</a:t>
            </a:r>
            <a:r>
              <a:rPr dirty="0"/>
              <a:t>, </a:t>
            </a:r>
            <a:r>
              <a:rPr dirty="0" err="1"/>
              <a:t>locação</a:t>
            </a:r>
            <a:r>
              <a:rPr dirty="0"/>
              <a:t> e </a:t>
            </a:r>
            <a:r>
              <a:rPr dirty="0" err="1"/>
              <a:t>recuperação</a:t>
            </a:r>
            <a:r>
              <a:rPr dirty="0"/>
              <a:t> de </a:t>
            </a:r>
            <a:r>
              <a:rPr dirty="0" err="1"/>
              <a:t>componentes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estou</a:t>
            </a:r>
            <a:r>
              <a:rPr dirty="0"/>
              <a:t> </a:t>
            </a:r>
            <a:r>
              <a:rPr dirty="0" err="1"/>
              <a:t>propondo</a:t>
            </a:r>
            <a:r>
              <a:rPr dirty="0"/>
              <a:t> </a:t>
            </a:r>
            <a:r>
              <a:rPr dirty="0" err="1"/>
              <a:t>colocar</a:t>
            </a:r>
            <a:r>
              <a:rPr dirty="0"/>
              <a:t> </a:t>
            </a:r>
            <a:r>
              <a:rPr dirty="0" err="1"/>
              <a:t>tudo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primeira</a:t>
            </a:r>
            <a:r>
              <a:rPr dirty="0"/>
              <a:t> </a:t>
            </a:r>
            <a:r>
              <a:rPr dirty="0" err="1"/>
              <a:t>versão</a:t>
            </a:r>
            <a:r>
              <a:rPr dirty="0"/>
              <a:t>. Quero usar </a:t>
            </a:r>
            <a:r>
              <a:rPr dirty="0" err="1"/>
              <a:t>essa</a:t>
            </a:r>
            <a:r>
              <a:rPr dirty="0"/>
              <a:t> </a:t>
            </a:r>
            <a:r>
              <a:rPr dirty="0" err="1"/>
              <a:t>visão</a:t>
            </a:r>
            <a:r>
              <a:rPr dirty="0"/>
              <a:t> para </a:t>
            </a: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 </a:t>
            </a:r>
            <a:r>
              <a:rPr dirty="0" err="1"/>
              <a:t>primeira</a:t>
            </a:r>
            <a:r>
              <a:rPr dirty="0"/>
              <a:t> </a:t>
            </a:r>
            <a:r>
              <a:rPr dirty="0" err="1"/>
              <a:t>entrega</a:t>
            </a:r>
            <a:r>
              <a:rPr dirty="0"/>
              <a:t> </a:t>
            </a:r>
            <a:r>
              <a:rPr dirty="0" err="1"/>
              <a:t>limite</a:t>
            </a:r>
            <a:r>
              <a:rPr dirty="0"/>
              <a:t> a </a:t>
            </a:r>
            <a:r>
              <a:rPr dirty="0" err="1"/>
              <a:t>evolução</a:t>
            </a:r>
            <a:r>
              <a:rPr dirty="0"/>
              <a:t> do </a:t>
            </a:r>
            <a:r>
              <a:rPr dirty="0" err="1"/>
              <a:t>produto</a:t>
            </a:r>
            <a:r>
              <a:rPr dirty="0"/>
              <a:t>. Nas </a:t>
            </a:r>
            <a:r>
              <a:rPr dirty="0" err="1"/>
              <a:t>áreas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anexo</a:t>
            </a:r>
            <a:r>
              <a:rPr dirty="0"/>
              <a:t> </a:t>
            </a:r>
            <a:r>
              <a:rPr dirty="0" err="1"/>
              <a:t>mostra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o </a:t>
            </a:r>
            <a:r>
              <a:rPr dirty="0" err="1"/>
              <a:t>nome</a:t>
            </a:r>
            <a:r>
              <a:rPr dirty="0"/>
              <a:t> do menu, </a:t>
            </a:r>
            <a:r>
              <a:rPr dirty="0" err="1"/>
              <a:t>precisamos</a:t>
            </a:r>
            <a:r>
              <a:rPr dirty="0"/>
              <a:t> </a:t>
            </a:r>
            <a:r>
              <a:rPr dirty="0" err="1"/>
              <a:t>aprofundar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requisitos</a:t>
            </a:r>
            <a:r>
              <a:rPr dirty="0"/>
              <a:t> antes de </a:t>
            </a:r>
            <a:r>
              <a:rPr dirty="0" err="1"/>
              <a:t>definir</a:t>
            </a:r>
            <a:r>
              <a:rPr dirty="0"/>
              <a:t> </a:t>
            </a:r>
            <a:r>
              <a:rPr dirty="0" err="1"/>
              <a:t>funcionalidades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Referência</a:t>
            </a:r>
            <a:r>
              <a:rPr dirty="0"/>
              <a:t>: </a:t>
            </a:r>
            <a:r>
              <a:rPr dirty="0" err="1"/>
              <a:t>AMT_Screens.pptx</a:t>
            </a:r>
            <a:r>
              <a:rPr dirty="0"/>
              <a:t>, slides 1–20. A </a:t>
            </a:r>
            <a:r>
              <a:rPr dirty="0" err="1"/>
              <a:t>presença</a:t>
            </a:r>
            <a:r>
              <a:rPr dirty="0"/>
              <a:t> no menu </a:t>
            </a:r>
            <a:r>
              <a:rPr dirty="0" err="1"/>
              <a:t>confirma</a:t>
            </a:r>
            <a:r>
              <a:rPr dirty="0"/>
              <a:t> a </a:t>
            </a:r>
            <a:r>
              <a:rPr dirty="0" err="1"/>
              <a:t>área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detalhado</a:t>
            </a:r>
            <a:r>
              <a:rPr dirty="0"/>
              <a:t>. O </a:t>
            </a:r>
            <a:r>
              <a:rPr dirty="0" err="1"/>
              <a:t>desenho</a:t>
            </a:r>
            <a:r>
              <a:rPr dirty="0"/>
              <a:t> </a:t>
            </a:r>
            <a:r>
              <a:rPr dirty="0" err="1"/>
              <a:t>LumiMining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Aqui </a:t>
            </a:r>
            <a:r>
              <a:rPr dirty="0" err="1"/>
              <a:t>está</a:t>
            </a:r>
            <a:r>
              <a:rPr dirty="0"/>
              <a:t> a base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merece</a:t>
            </a:r>
            <a:r>
              <a:rPr dirty="0"/>
              <a:t> </a:t>
            </a:r>
            <a:r>
              <a:rPr dirty="0" err="1"/>
              <a:t>atenção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o </a:t>
            </a:r>
            <a:r>
              <a:rPr dirty="0" err="1"/>
              <a:t>início</a:t>
            </a:r>
            <a:r>
              <a:rPr dirty="0"/>
              <a:t>. O </a:t>
            </a:r>
            <a:r>
              <a:rPr dirty="0" err="1"/>
              <a:t>equipamento</a:t>
            </a:r>
            <a:r>
              <a:rPr dirty="0"/>
              <a:t> </a:t>
            </a:r>
            <a:r>
              <a:rPr dirty="0" err="1"/>
              <a:t>precisa</a:t>
            </a:r>
            <a:r>
              <a:rPr dirty="0"/>
              <a:t> ter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identidade</a:t>
            </a:r>
            <a:r>
              <a:rPr dirty="0"/>
              <a:t> </a:t>
            </a:r>
            <a:r>
              <a:rPr dirty="0" err="1"/>
              <a:t>estável</a:t>
            </a:r>
            <a:r>
              <a:rPr dirty="0"/>
              <a:t> e </a:t>
            </a:r>
            <a:r>
              <a:rPr dirty="0" err="1"/>
              <a:t>seus</a:t>
            </a:r>
            <a:r>
              <a:rPr dirty="0"/>
              <a:t> </a:t>
            </a:r>
            <a:r>
              <a:rPr dirty="0" err="1"/>
              <a:t>componentes</a:t>
            </a:r>
            <a:r>
              <a:rPr dirty="0"/>
              <a:t> </a:t>
            </a:r>
            <a:r>
              <a:rPr dirty="0" err="1"/>
              <a:t>também</a:t>
            </a:r>
            <a:r>
              <a:rPr dirty="0"/>
              <a:t>, </a:t>
            </a:r>
            <a:r>
              <a:rPr dirty="0" err="1"/>
              <a:t>principalmente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trocados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recuperados</a:t>
            </a:r>
            <a:r>
              <a:rPr dirty="0"/>
              <a:t>. Minha </a:t>
            </a:r>
            <a:r>
              <a:rPr dirty="0" err="1"/>
              <a:t>proposta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histórico </a:t>
            </a:r>
            <a:r>
              <a:rPr dirty="0" err="1"/>
              <a:t>acompanhe</a:t>
            </a:r>
            <a:r>
              <a:rPr dirty="0"/>
              <a:t> o </a:t>
            </a:r>
            <a:r>
              <a:rPr dirty="0" err="1"/>
              <a:t>componente</a:t>
            </a:r>
            <a:r>
              <a:rPr dirty="0"/>
              <a:t>,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ele</a:t>
            </a:r>
            <a:r>
              <a:rPr dirty="0"/>
              <a:t> </a:t>
            </a:r>
            <a:r>
              <a:rPr dirty="0" err="1"/>
              <a:t>muda</a:t>
            </a:r>
            <a:r>
              <a:rPr dirty="0"/>
              <a:t> de </a:t>
            </a:r>
            <a:r>
              <a:rPr dirty="0" err="1"/>
              <a:t>equipamento</a:t>
            </a:r>
            <a:r>
              <a:rPr dirty="0"/>
              <a:t>. As </a:t>
            </a:r>
            <a:r>
              <a:rPr dirty="0" err="1"/>
              <a:t>telas</a:t>
            </a:r>
            <a:r>
              <a:rPr dirty="0"/>
              <a:t> </a:t>
            </a:r>
            <a:r>
              <a:rPr dirty="0" err="1"/>
              <a:t>mostram</a:t>
            </a:r>
            <a:r>
              <a:rPr dirty="0"/>
              <a:t> </a:t>
            </a:r>
            <a:r>
              <a:rPr dirty="0" err="1"/>
              <a:t>cadastros</a:t>
            </a:r>
            <a:r>
              <a:rPr dirty="0"/>
              <a:t>, </a:t>
            </a:r>
            <a:r>
              <a:rPr dirty="0" err="1"/>
              <a:t>componentes</a:t>
            </a:r>
            <a:r>
              <a:rPr dirty="0"/>
              <a:t> </a:t>
            </a:r>
            <a:r>
              <a:rPr dirty="0" err="1"/>
              <a:t>serializados</a:t>
            </a:r>
            <a:r>
              <a:rPr dirty="0"/>
              <a:t> e </a:t>
            </a:r>
            <a:r>
              <a:rPr dirty="0" err="1"/>
              <a:t>recursos</a:t>
            </a:r>
            <a:r>
              <a:rPr dirty="0"/>
              <a:t> de </a:t>
            </a:r>
            <a:r>
              <a:rPr dirty="0" err="1"/>
              <a:t>administração</a:t>
            </a:r>
            <a:r>
              <a:rPr dirty="0"/>
              <a:t>. O </a:t>
            </a:r>
            <a:r>
              <a:rPr dirty="0" err="1"/>
              <a:t>detalhe</a:t>
            </a:r>
            <a:r>
              <a:rPr dirty="0"/>
              <a:t> do </a:t>
            </a:r>
            <a:r>
              <a:rPr dirty="0" err="1"/>
              <a:t>nosso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ainda</a:t>
            </a:r>
            <a:r>
              <a:rPr dirty="0"/>
              <a:t> </a:t>
            </a:r>
            <a:r>
              <a:rPr dirty="0" err="1"/>
              <a:t>precisa</a:t>
            </a:r>
            <a:r>
              <a:rPr dirty="0"/>
              <a:t> ser </a:t>
            </a:r>
            <a:r>
              <a:rPr dirty="0" err="1"/>
              <a:t>definido</a:t>
            </a:r>
            <a:r>
              <a:rPr dirty="0"/>
              <a:t>. Wilton, </a:t>
            </a:r>
            <a:r>
              <a:rPr dirty="0" err="1"/>
              <a:t>que</a:t>
            </a:r>
            <a:r>
              <a:rPr dirty="0"/>
              <a:t> dados dos OEMs </a:t>
            </a:r>
            <a:r>
              <a:rPr dirty="0" err="1"/>
              <a:t>você</a:t>
            </a:r>
            <a:r>
              <a:rPr dirty="0"/>
              <a:t> </a:t>
            </a:r>
            <a:r>
              <a:rPr dirty="0" err="1"/>
              <a:t>considera</a:t>
            </a:r>
            <a:r>
              <a:rPr dirty="0"/>
              <a:t> </a:t>
            </a:r>
            <a:r>
              <a:rPr dirty="0" err="1"/>
              <a:t>essenciais</a:t>
            </a:r>
            <a:r>
              <a:rPr dirty="0"/>
              <a:t> para </a:t>
            </a:r>
            <a:r>
              <a:rPr dirty="0" err="1"/>
              <a:t>estruturarmos</a:t>
            </a:r>
            <a:r>
              <a:rPr dirty="0"/>
              <a:t> </a:t>
            </a:r>
            <a:r>
              <a:rPr dirty="0" err="1"/>
              <a:t>isso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complicar</a:t>
            </a:r>
            <a:r>
              <a:rPr dirty="0"/>
              <a:t> o </a:t>
            </a:r>
            <a:r>
              <a:rPr dirty="0" err="1"/>
              <a:t>cadastro</a:t>
            </a:r>
            <a:r>
              <a:rPr dirty="0"/>
              <a:t>?</a:t>
            </a:r>
          </a:p>
          <a:p>
            <a:endParaRPr dirty="0"/>
          </a:p>
          <a:p>
            <a:r>
              <a:rPr dirty="0" err="1"/>
              <a:t>Referência</a:t>
            </a:r>
            <a:r>
              <a:rPr dirty="0"/>
              <a:t>: </a:t>
            </a:r>
            <a:r>
              <a:rPr dirty="0" err="1"/>
              <a:t>AMT_Screens.pptx</a:t>
            </a:r>
            <a:r>
              <a:rPr dirty="0"/>
              <a:t>, slides 3–4, 9, 19. A </a:t>
            </a:r>
            <a:r>
              <a:rPr dirty="0" err="1"/>
              <a:t>presença</a:t>
            </a:r>
            <a:r>
              <a:rPr dirty="0"/>
              <a:t> no menu </a:t>
            </a:r>
            <a:r>
              <a:rPr dirty="0" err="1"/>
              <a:t>confirma</a:t>
            </a:r>
            <a:r>
              <a:rPr dirty="0"/>
              <a:t> a </a:t>
            </a:r>
            <a:r>
              <a:rPr dirty="0" err="1"/>
              <a:t>área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detalhado</a:t>
            </a:r>
            <a:r>
              <a:rPr dirty="0"/>
              <a:t>. O </a:t>
            </a:r>
            <a:r>
              <a:rPr dirty="0" err="1"/>
              <a:t>desenho</a:t>
            </a:r>
            <a:r>
              <a:rPr dirty="0"/>
              <a:t> </a:t>
            </a:r>
            <a:r>
              <a:rPr dirty="0" err="1"/>
              <a:t>LumiMining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 AMT </a:t>
            </a:r>
            <a:r>
              <a:rPr dirty="0" err="1"/>
              <a:t>reúne</a:t>
            </a:r>
            <a:r>
              <a:rPr dirty="0"/>
              <a:t> </a:t>
            </a:r>
            <a:r>
              <a:rPr dirty="0" err="1"/>
              <a:t>biblioteca</a:t>
            </a:r>
            <a:r>
              <a:rPr dirty="0"/>
              <a:t>, </a:t>
            </a:r>
            <a:r>
              <a:rPr dirty="0" err="1"/>
              <a:t>serviços</a:t>
            </a:r>
            <a:r>
              <a:rPr dirty="0"/>
              <a:t> </a:t>
            </a:r>
            <a:r>
              <a:rPr dirty="0" err="1"/>
              <a:t>padrão</a:t>
            </a:r>
            <a:r>
              <a:rPr dirty="0"/>
              <a:t>, </a:t>
            </a:r>
            <a:r>
              <a:rPr dirty="0" err="1"/>
              <a:t>manutenção</a:t>
            </a:r>
            <a:r>
              <a:rPr dirty="0"/>
              <a:t> </a:t>
            </a:r>
            <a:r>
              <a:rPr dirty="0" err="1"/>
              <a:t>baseada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condição</a:t>
            </a:r>
            <a:r>
              <a:rPr dirty="0"/>
              <a:t> e </a:t>
            </a:r>
            <a:r>
              <a:rPr dirty="0" err="1"/>
              <a:t>gestão</a:t>
            </a:r>
            <a:r>
              <a:rPr dirty="0"/>
              <a:t> de </a:t>
            </a:r>
            <a:r>
              <a:rPr dirty="0" err="1"/>
              <a:t>problemas</a:t>
            </a:r>
            <a:r>
              <a:rPr dirty="0"/>
              <a:t> </a:t>
            </a:r>
            <a:r>
              <a:rPr dirty="0" err="1"/>
              <a:t>técnicos</a:t>
            </a:r>
            <a:r>
              <a:rPr dirty="0"/>
              <a:t>.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apresenta</a:t>
            </a:r>
            <a:r>
              <a:rPr dirty="0"/>
              <a:t> </a:t>
            </a:r>
            <a:r>
              <a:rPr dirty="0" err="1"/>
              <a:t>Centrelines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área</a:t>
            </a:r>
            <a:r>
              <a:rPr dirty="0"/>
              <a:t> de </a:t>
            </a:r>
            <a:r>
              <a:rPr dirty="0" err="1"/>
              <a:t>referência</a:t>
            </a:r>
            <a:r>
              <a:rPr dirty="0"/>
              <a:t>. Para </a:t>
            </a:r>
            <a:r>
              <a:rPr dirty="0" err="1"/>
              <a:t>nós</a:t>
            </a:r>
            <a:r>
              <a:rPr dirty="0"/>
              <a:t>, a </a:t>
            </a:r>
            <a:r>
              <a:rPr dirty="0" err="1"/>
              <a:t>proposta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usar templates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e </a:t>
            </a:r>
            <a:r>
              <a:rPr dirty="0" err="1"/>
              <a:t>permitir</a:t>
            </a:r>
            <a:r>
              <a:rPr dirty="0"/>
              <a:t> </a:t>
            </a:r>
            <a:r>
              <a:rPr dirty="0" err="1"/>
              <a:t>exceções</a:t>
            </a:r>
            <a:r>
              <a:rPr dirty="0"/>
              <a:t> </a:t>
            </a:r>
            <a:r>
              <a:rPr dirty="0" err="1"/>
              <a:t>controladas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equipamento</a:t>
            </a:r>
            <a:r>
              <a:rPr dirty="0"/>
              <a:t>. </a:t>
            </a:r>
            <a:r>
              <a:rPr dirty="0" err="1"/>
              <a:t>Isso</a:t>
            </a:r>
            <a:r>
              <a:rPr dirty="0"/>
              <a:t> 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refazer</a:t>
            </a:r>
            <a:r>
              <a:rPr dirty="0"/>
              <a:t> o </a:t>
            </a:r>
            <a:r>
              <a:rPr dirty="0" err="1"/>
              <a:t>mesmo</a:t>
            </a:r>
            <a:r>
              <a:rPr dirty="0"/>
              <a:t> plano </a:t>
            </a:r>
            <a:r>
              <a:rPr dirty="0" err="1"/>
              <a:t>várias</a:t>
            </a:r>
            <a:r>
              <a:rPr dirty="0"/>
              <a:t> </a:t>
            </a:r>
            <a:r>
              <a:rPr dirty="0" err="1"/>
              <a:t>vezes</a:t>
            </a:r>
            <a:r>
              <a:rPr dirty="0"/>
              <a:t>, mas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decidir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revisão</a:t>
            </a:r>
            <a:r>
              <a:rPr dirty="0"/>
              <a:t> </a:t>
            </a:r>
            <a:r>
              <a:rPr dirty="0" err="1"/>
              <a:t>será</a:t>
            </a:r>
            <a:r>
              <a:rPr dirty="0"/>
              <a:t> </a:t>
            </a:r>
            <a:r>
              <a:rPr dirty="0" err="1"/>
              <a:t>aplicada</a:t>
            </a:r>
            <a:r>
              <a:rPr dirty="0"/>
              <a:t>. Se </a:t>
            </a:r>
            <a:r>
              <a:rPr dirty="0" err="1"/>
              <a:t>mudarmos</a:t>
            </a:r>
            <a:r>
              <a:rPr dirty="0"/>
              <a:t> um </a:t>
            </a:r>
            <a:r>
              <a:rPr dirty="0" err="1"/>
              <a:t>serviço</a:t>
            </a:r>
            <a:r>
              <a:rPr dirty="0"/>
              <a:t> </a:t>
            </a:r>
            <a:r>
              <a:rPr dirty="0" err="1"/>
              <a:t>padrão</a:t>
            </a:r>
            <a:r>
              <a:rPr dirty="0"/>
              <a:t>,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acontece</a:t>
            </a:r>
            <a:r>
              <a:rPr dirty="0"/>
              <a:t> com as </a:t>
            </a:r>
            <a:r>
              <a:rPr dirty="0" err="1"/>
              <a:t>ordens</a:t>
            </a:r>
            <a:r>
              <a:rPr dirty="0"/>
              <a:t>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abertas</a:t>
            </a:r>
            <a:r>
              <a:rPr dirty="0"/>
              <a:t>? Esse </a:t>
            </a:r>
            <a:r>
              <a:rPr dirty="0" err="1"/>
              <a:t>é</a:t>
            </a:r>
            <a:r>
              <a:rPr dirty="0"/>
              <a:t> um </a:t>
            </a:r>
            <a:r>
              <a:rPr dirty="0" err="1"/>
              <a:t>exemplo</a:t>
            </a:r>
            <a:r>
              <a:rPr dirty="0"/>
              <a:t> de </a:t>
            </a:r>
            <a:r>
              <a:rPr dirty="0" err="1"/>
              <a:t>regra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precisamos</a:t>
            </a:r>
            <a:r>
              <a:rPr dirty="0"/>
              <a:t> </a:t>
            </a:r>
            <a:r>
              <a:rPr dirty="0" err="1"/>
              <a:t>acertar</a:t>
            </a:r>
            <a:r>
              <a:rPr dirty="0"/>
              <a:t> antes do </a:t>
            </a:r>
            <a:r>
              <a:rPr dirty="0" err="1"/>
              <a:t>desenvolvimento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Referência</a:t>
            </a:r>
            <a:r>
              <a:rPr dirty="0"/>
              <a:t>: </a:t>
            </a:r>
            <a:r>
              <a:rPr dirty="0" err="1"/>
              <a:t>AMT_Screens.pptx</a:t>
            </a:r>
            <a:r>
              <a:rPr dirty="0"/>
              <a:t>, slides 7–9, 14. A </a:t>
            </a:r>
            <a:r>
              <a:rPr dirty="0" err="1"/>
              <a:t>presença</a:t>
            </a:r>
            <a:r>
              <a:rPr dirty="0"/>
              <a:t> no menu </a:t>
            </a:r>
            <a:r>
              <a:rPr dirty="0" err="1"/>
              <a:t>confirma</a:t>
            </a:r>
            <a:r>
              <a:rPr dirty="0"/>
              <a:t> a </a:t>
            </a:r>
            <a:r>
              <a:rPr dirty="0" err="1"/>
              <a:t>área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detalhado</a:t>
            </a:r>
            <a:r>
              <a:rPr dirty="0"/>
              <a:t>. O </a:t>
            </a:r>
            <a:r>
              <a:rPr dirty="0" err="1"/>
              <a:t>desenho</a:t>
            </a:r>
            <a:r>
              <a:rPr dirty="0"/>
              <a:t> </a:t>
            </a:r>
            <a:r>
              <a:rPr dirty="0" err="1"/>
              <a:t>LumiMining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Vamos </a:t>
            </a:r>
            <a:r>
              <a:rPr dirty="0" err="1"/>
              <a:t>manter</a:t>
            </a:r>
            <a:r>
              <a:rPr dirty="0"/>
              <a:t> um </a:t>
            </a:r>
            <a:r>
              <a:rPr dirty="0" err="1"/>
              <a:t>caso</a:t>
            </a:r>
            <a:r>
              <a:rPr dirty="0"/>
              <a:t> simples para </a:t>
            </a:r>
            <a:r>
              <a:rPr dirty="0" err="1"/>
              <a:t>orientar</a:t>
            </a:r>
            <a:r>
              <a:rPr dirty="0"/>
              <a:t> a </a:t>
            </a:r>
            <a:r>
              <a:rPr dirty="0" err="1"/>
              <a:t>primeira</a:t>
            </a:r>
            <a:r>
              <a:rPr dirty="0"/>
              <a:t> </a:t>
            </a:r>
            <a:r>
              <a:rPr dirty="0" err="1"/>
              <a:t>entrega</a:t>
            </a:r>
            <a:r>
              <a:rPr dirty="0"/>
              <a:t>: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inspeção</a:t>
            </a:r>
            <a:r>
              <a:rPr dirty="0"/>
              <a:t> </a:t>
            </a:r>
            <a:r>
              <a:rPr dirty="0" err="1"/>
              <a:t>identifica</a:t>
            </a:r>
            <a:r>
              <a:rPr dirty="0"/>
              <a:t> um </a:t>
            </a:r>
            <a:r>
              <a:rPr dirty="0" err="1"/>
              <a:t>vazamento</a:t>
            </a:r>
            <a:r>
              <a:rPr dirty="0"/>
              <a:t> </a:t>
            </a:r>
            <a:r>
              <a:rPr dirty="0" err="1"/>
              <a:t>hidráulico</a:t>
            </a:r>
            <a:r>
              <a:rPr dirty="0"/>
              <a:t>. A equipe </a:t>
            </a:r>
            <a:r>
              <a:rPr dirty="0" err="1"/>
              <a:t>registra</a:t>
            </a:r>
            <a:r>
              <a:rPr dirty="0"/>
              <a:t> o </a:t>
            </a:r>
            <a:r>
              <a:rPr dirty="0" err="1"/>
              <a:t>problema</a:t>
            </a:r>
            <a:r>
              <a:rPr dirty="0"/>
              <a:t>, </a:t>
            </a:r>
            <a:r>
              <a:rPr dirty="0" err="1"/>
              <a:t>avalia</a:t>
            </a:r>
            <a:r>
              <a:rPr dirty="0"/>
              <a:t> a </a:t>
            </a:r>
            <a:r>
              <a:rPr dirty="0" err="1"/>
              <a:t>prioridade</a:t>
            </a:r>
            <a:r>
              <a:rPr dirty="0"/>
              <a:t> e </a:t>
            </a:r>
            <a:r>
              <a:rPr dirty="0" err="1"/>
              <a:t>prepara</a:t>
            </a:r>
            <a:r>
              <a:rPr dirty="0"/>
              <a:t> o </a:t>
            </a:r>
            <a:r>
              <a:rPr dirty="0" err="1"/>
              <a:t>serviço</a:t>
            </a:r>
            <a:r>
              <a:rPr dirty="0"/>
              <a:t>. O </a:t>
            </a:r>
            <a:r>
              <a:rPr dirty="0" err="1"/>
              <a:t>técnico</a:t>
            </a:r>
            <a:r>
              <a:rPr dirty="0"/>
              <a:t> </a:t>
            </a:r>
            <a:r>
              <a:rPr dirty="0" err="1"/>
              <a:t>executa</a:t>
            </a:r>
            <a:r>
              <a:rPr dirty="0"/>
              <a:t> e </a:t>
            </a:r>
            <a:r>
              <a:rPr dirty="0" err="1"/>
              <a:t>informa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encontrou</a:t>
            </a:r>
            <a:r>
              <a:rPr dirty="0"/>
              <a:t> e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utilizou</a:t>
            </a:r>
            <a:r>
              <a:rPr dirty="0"/>
              <a:t>. </a:t>
            </a:r>
            <a:r>
              <a:rPr dirty="0" err="1"/>
              <a:t>Depois</a:t>
            </a:r>
            <a:r>
              <a:rPr dirty="0"/>
              <a:t>, o </a:t>
            </a:r>
            <a:r>
              <a:rPr dirty="0" err="1"/>
              <a:t>responsável</a:t>
            </a:r>
            <a:r>
              <a:rPr dirty="0"/>
              <a:t> </a:t>
            </a:r>
            <a:r>
              <a:rPr dirty="0" err="1"/>
              <a:t>verifica</a:t>
            </a:r>
            <a:r>
              <a:rPr dirty="0"/>
              <a:t> o </a:t>
            </a:r>
            <a:r>
              <a:rPr dirty="0" err="1"/>
              <a:t>resultado</a:t>
            </a:r>
            <a:r>
              <a:rPr dirty="0"/>
              <a:t> e </a:t>
            </a:r>
            <a:r>
              <a:rPr dirty="0" err="1"/>
              <a:t>confirma</a:t>
            </a:r>
            <a:r>
              <a:rPr dirty="0"/>
              <a:t> a </a:t>
            </a:r>
            <a:r>
              <a:rPr dirty="0" err="1"/>
              <a:t>liberação</a:t>
            </a:r>
            <a:r>
              <a:rPr dirty="0"/>
              <a:t>. </a:t>
            </a:r>
            <a:r>
              <a:rPr dirty="0" err="1"/>
              <a:t>Precisamos</a:t>
            </a:r>
            <a:r>
              <a:rPr dirty="0"/>
              <a:t> </a:t>
            </a:r>
            <a:r>
              <a:rPr dirty="0" err="1"/>
              <a:t>preservar</a:t>
            </a:r>
            <a:r>
              <a:rPr dirty="0"/>
              <a:t> o </a:t>
            </a:r>
            <a:r>
              <a:rPr dirty="0" err="1"/>
              <a:t>vínculo</a:t>
            </a:r>
            <a:r>
              <a:rPr dirty="0"/>
              <a:t> entre a </a:t>
            </a:r>
            <a:r>
              <a:rPr dirty="0" err="1"/>
              <a:t>origem</a:t>
            </a:r>
            <a:r>
              <a:rPr dirty="0"/>
              <a:t> da </a:t>
            </a:r>
            <a:r>
              <a:rPr dirty="0" err="1"/>
              <a:t>demanda</a:t>
            </a:r>
            <a:r>
              <a:rPr dirty="0"/>
              <a:t> e a </a:t>
            </a:r>
            <a:r>
              <a:rPr dirty="0" err="1"/>
              <a:t>ordem</a:t>
            </a:r>
            <a:r>
              <a:rPr dirty="0"/>
              <a:t>.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precisamos</a:t>
            </a:r>
            <a:r>
              <a:rPr dirty="0"/>
              <a:t> </a:t>
            </a:r>
            <a:r>
              <a:rPr dirty="0" err="1"/>
              <a:t>separar</a:t>
            </a:r>
            <a:r>
              <a:rPr dirty="0"/>
              <a:t> a </a:t>
            </a:r>
            <a:r>
              <a:rPr dirty="0" err="1"/>
              <a:t>conclusão</a:t>
            </a:r>
            <a:r>
              <a:rPr dirty="0"/>
              <a:t> </a:t>
            </a:r>
            <a:r>
              <a:rPr dirty="0" err="1"/>
              <a:t>administrativa</a:t>
            </a:r>
            <a:r>
              <a:rPr dirty="0"/>
              <a:t> da </a:t>
            </a:r>
            <a:r>
              <a:rPr dirty="0" err="1"/>
              <a:t>confirmação</a:t>
            </a:r>
            <a:r>
              <a:rPr dirty="0"/>
              <a:t> de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resolvido</a:t>
            </a:r>
            <a:r>
              <a:rPr dirty="0"/>
              <a:t>. O </a:t>
            </a: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nossa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, </a:t>
            </a:r>
            <a:r>
              <a:rPr dirty="0" err="1"/>
              <a:t>apoiada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funções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aparecem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telas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Referência</a:t>
            </a:r>
            <a:r>
              <a:rPr dirty="0"/>
              <a:t>: </a:t>
            </a:r>
            <a:r>
              <a:rPr dirty="0" err="1"/>
              <a:t>AMT_Screens.pptx</a:t>
            </a:r>
            <a:r>
              <a:rPr dirty="0"/>
              <a:t>, slides 10, 12. A </a:t>
            </a:r>
            <a:r>
              <a:rPr dirty="0" err="1"/>
              <a:t>presença</a:t>
            </a:r>
            <a:r>
              <a:rPr dirty="0"/>
              <a:t> no menu </a:t>
            </a:r>
            <a:r>
              <a:rPr dirty="0" err="1"/>
              <a:t>confirma</a:t>
            </a:r>
            <a:r>
              <a:rPr dirty="0"/>
              <a:t> a </a:t>
            </a:r>
            <a:r>
              <a:rPr dirty="0" err="1"/>
              <a:t>área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detalhado</a:t>
            </a:r>
            <a:r>
              <a:rPr dirty="0"/>
              <a:t>. O </a:t>
            </a:r>
            <a:r>
              <a:rPr dirty="0" err="1"/>
              <a:t>desenho</a:t>
            </a:r>
            <a:r>
              <a:rPr dirty="0"/>
              <a:t> </a:t>
            </a:r>
            <a:r>
              <a:rPr dirty="0" err="1"/>
              <a:t>LumiMining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As </a:t>
            </a:r>
            <a:r>
              <a:rPr dirty="0" err="1"/>
              <a:t>telas</a:t>
            </a:r>
            <a:r>
              <a:rPr dirty="0"/>
              <a:t> </a:t>
            </a:r>
            <a:r>
              <a:rPr dirty="0" err="1"/>
              <a:t>separam</a:t>
            </a:r>
            <a:r>
              <a:rPr dirty="0"/>
              <a:t> o </a:t>
            </a:r>
            <a:r>
              <a:rPr dirty="0" err="1"/>
              <a:t>planejamento</a:t>
            </a:r>
            <a:r>
              <a:rPr dirty="0"/>
              <a:t> </a:t>
            </a:r>
            <a:r>
              <a:rPr dirty="0" err="1"/>
              <a:t>diário</a:t>
            </a:r>
            <a:r>
              <a:rPr dirty="0"/>
              <a:t> do </a:t>
            </a:r>
            <a:r>
              <a:rPr dirty="0" err="1"/>
              <a:t>planejamento</a:t>
            </a:r>
            <a:r>
              <a:rPr dirty="0"/>
              <a:t> de </a:t>
            </a:r>
            <a:r>
              <a:rPr dirty="0" err="1"/>
              <a:t>longo</a:t>
            </a:r>
            <a:r>
              <a:rPr dirty="0"/>
              <a:t> </a:t>
            </a:r>
            <a:r>
              <a:rPr dirty="0" err="1"/>
              <a:t>prazo</a:t>
            </a:r>
            <a:r>
              <a:rPr dirty="0"/>
              <a:t>. Essa </a:t>
            </a:r>
            <a:r>
              <a:rPr dirty="0" err="1"/>
              <a:t>distinção</a:t>
            </a:r>
            <a:r>
              <a:rPr dirty="0"/>
              <a:t> </a:t>
            </a:r>
            <a:r>
              <a:rPr dirty="0" err="1"/>
              <a:t>faz</a:t>
            </a:r>
            <a:r>
              <a:rPr dirty="0"/>
              <a:t> </a:t>
            </a:r>
            <a:r>
              <a:rPr dirty="0" err="1"/>
              <a:t>sentido</a:t>
            </a:r>
            <a:r>
              <a:rPr dirty="0"/>
              <a:t> para </a:t>
            </a:r>
            <a:r>
              <a:rPr dirty="0" err="1"/>
              <a:t>nós</a:t>
            </a:r>
            <a:r>
              <a:rPr dirty="0"/>
              <a:t>: no </a:t>
            </a:r>
            <a:r>
              <a:rPr dirty="0" err="1"/>
              <a:t>curto</a:t>
            </a:r>
            <a:r>
              <a:rPr dirty="0"/>
              <a:t> </a:t>
            </a:r>
            <a:r>
              <a:rPr dirty="0" err="1"/>
              <a:t>prazo</a:t>
            </a:r>
            <a:r>
              <a:rPr dirty="0"/>
              <a:t> </a:t>
            </a:r>
            <a:r>
              <a:rPr dirty="0" err="1"/>
              <a:t>precisamos</a:t>
            </a:r>
            <a:r>
              <a:rPr dirty="0"/>
              <a:t> saber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pronto para </a:t>
            </a:r>
            <a:r>
              <a:rPr dirty="0" err="1"/>
              <a:t>executar</a:t>
            </a:r>
            <a:r>
              <a:rPr dirty="0"/>
              <a:t>. No </a:t>
            </a:r>
            <a:r>
              <a:rPr dirty="0" err="1"/>
              <a:t>longo</a:t>
            </a:r>
            <a:r>
              <a:rPr dirty="0"/>
              <a:t> </a:t>
            </a:r>
            <a:r>
              <a:rPr dirty="0" err="1"/>
              <a:t>prazo</a:t>
            </a:r>
            <a:r>
              <a:rPr dirty="0"/>
              <a:t>, </a:t>
            </a:r>
            <a:r>
              <a:rPr dirty="0" err="1"/>
              <a:t>precisamos</a:t>
            </a:r>
            <a:r>
              <a:rPr dirty="0"/>
              <a:t> </a:t>
            </a:r>
            <a:r>
              <a:rPr dirty="0" err="1"/>
              <a:t>antecipar</a:t>
            </a:r>
            <a:r>
              <a:rPr dirty="0"/>
              <a:t> </a:t>
            </a:r>
            <a:r>
              <a:rPr dirty="0" err="1"/>
              <a:t>necessidades</a:t>
            </a:r>
            <a:r>
              <a:rPr dirty="0"/>
              <a:t> de </a:t>
            </a:r>
            <a:r>
              <a:rPr dirty="0" err="1"/>
              <a:t>componentes</a:t>
            </a:r>
            <a:r>
              <a:rPr dirty="0"/>
              <a:t>, </a:t>
            </a:r>
            <a:r>
              <a:rPr dirty="0" err="1"/>
              <a:t>materiais</a:t>
            </a:r>
            <a:r>
              <a:rPr dirty="0"/>
              <a:t> e </a:t>
            </a:r>
            <a:r>
              <a:rPr dirty="0" err="1"/>
              <a:t>capacidade</a:t>
            </a:r>
            <a:r>
              <a:rPr dirty="0"/>
              <a:t>. A </a:t>
            </a:r>
            <a:r>
              <a:rPr dirty="0" err="1"/>
              <a:t>própria</a:t>
            </a:r>
            <a:r>
              <a:rPr dirty="0"/>
              <a:t> </a:t>
            </a:r>
            <a:r>
              <a:rPr dirty="0" err="1"/>
              <a:t>tela</a:t>
            </a:r>
            <a:r>
              <a:rPr dirty="0"/>
              <a:t> de </a:t>
            </a:r>
            <a:r>
              <a:rPr dirty="0" err="1"/>
              <a:t>previsão</a:t>
            </a:r>
            <a:r>
              <a:rPr dirty="0"/>
              <a:t> de </a:t>
            </a:r>
            <a:r>
              <a:rPr dirty="0" err="1"/>
              <a:t>peças</a:t>
            </a:r>
            <a:r>
              <a:rPr dirty="0"/>
              <a:t> </a:t>
            </a:r>
            <a:r>
              <a:rPr dirty="0" err="1"/>
              <a:t>destaca</a:t>
            </a:r>
            <a:r>
              <a:rPr dirty="0"/>
              <a:t> a </a:t>
            </a:r>
            <a:r>
              <a:rPr dirty="0" err="1"/>
              <a:t>dependência</a:t>
            </a:r>
            <a:r>
              <a:rPr dirty="0"/>
              <a:t> entre </a:t>
            </a:r>
            <a:r>
              <a:rPr dirty="0" err="1"/>
              <a:t>serviços</a:t>
            </a:r>
            <a:r>
              <a:rPr dirty="0"/>
              <a:t> </a:t>
            </a:r>
            <a:r>
              <a:rPr dirty="0" err="1"/>
              <a:t>padrão</a:t>
            </a:r>
            <a:r>
              <a:rPr dirty="0"/>
              <a:t> e </a:t>
            </a:r>
            <a:r>
              <a:rPr dirty="0" err="1"/>
              <a:t>projeções</a:t>
            </a:r>
            <a:r>
              <a:rPr dirty="0"/>
              <a:t>. </a:t>
            </a:r>
            <a:r>
              <a:rPr dirty="0" err="1"/>
              <a:t>Então</a:t>
            </a:r>
            <a:r>
              <a:rPr dirty="0"/>
              <a:t>, antes de </a:t>
            </a:r>
            <a:r>
              <a:rPr dirty="0" err="1"/>
              <a:t>prometer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previsão</a:t>
            </a:r>
            <a:r>
              <a:rPr dirty="0"/>
              <a:t> </a:t>
            </a:r>
            <a:r>
              <a:rPr dirty="0" err="1"/>
              <a:t>confiável</a:t>
            </a:r>
            <a:r>
              <a:rPr dirty="0"/>
              <a:t>, </a:t>
            </a:r>
            <a:r>
              <a:rPr dirty="0" err="1"/>
              <a:t>precisamos</a:t>
            </a:r>
            <a:r>
              <a:rPr dirty="0"/>
              <a:t> </a:t>
            </a:r>
            <a:r>
              <a:rPr dirty="0" err="1"/>
              <a:t>construir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</a:t>
            </a:r>
            <a:r>
              <a:rPr dirty="0" err="1"/>
              <a:t>essa</a:t>
            </a:r>
            <a:r>
              <a:rPr dirty="0"/>
              <a:t> base. Para o </a:t>
            </a:r>
            <a:r>
              <a:rPr dirty="0" err="1"/>
              <a:t>piloto</a:t>
            </a:r>
            <a:r>
              <a:rPr dirty="0"/>
              <a:t>, </a:t>
            </a:r>
            <a:r>
              <a:rPr dirty="0" err="1"/>
              <a:t>minha</a:t>
            </a:r>
            <a:r>
              <a:rPr dirty="0"/>
              <a:t> </a:t>
            </a:r>
            <a:r>
              <a:rPr dirty="0" err="1"/>
              <a:t>sugestão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começar</a:t>
            </a:r>
            <a:r>
              <a:rPr dirty="0"/>
              <a:t> pela </a:t>
            </a:r>
            <a:r>
              <a:rPr dirty="0" err="1"/>
              <a:t>programação</a:t>
            </a:r>
            <a:r>
              <a:rPr dirty="0"/>
              <a:t> </a:t>
            </a:r>
            <a:r>
              <a:rPr dirty="0" err="1"/>
              <a:t>básica</a:t>
            </a:r>
            <a:r>
              <a:rPr dirty="0"/>
              <a:t> e </a:t>
            </a:r>
            <a:r>
              <a:rPr dirty="0" err="1"/>
              <a:t>deixar</a:t>
            </a:r>
            <a:r>
              <a:rPr dirty="0"/>
              <a:t> claro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ela</a:t>
            </a:r>
            <a:r>
              <a:rPr dirty="0"/>
              <a:t> </a:t>
            </a:r>
            <a:r>
              <a:rPr dirty="0" err="1"/>
              <a:t>evoluirá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Referência</a:t>
            </a:r>
            <a:r>
              <a:rPr dirty="0"/>
              <a:t>: </a:t>
            </a:r>
            <a:r>
              <a:rPr dirty="0" err="1"/>
              <a:t>AMT_Screens.pptx</a:t>
            </a:r>
            <a:r>
              <a:rPr dirty="0"/>
              <a:t>, slides 11–12. A </a:t>
            </a:r>
            <a:r>
              <a:rPr dirty="0" err="1"/>
              <a:t>presença</a:t>
            </a:r>
            <a:r>
              <a:rPr dirty="0"/>
              <a:t> no menu </a:t>
            </a:r>
            <a:r>
              <a:rPr dirty="0" err="1"/>
              <a:t>confirma</a:t>
            </a:r>
            <a:r>
              <a:rPr dirty="0"/>
              <a:t> a </a:t>
            </a:r>
            <a:r>
              <a:rPr dirty="0" err="1"/>
              <a:t>área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detalhado</a:t>
            </a:r>
            <a:r>
              <a:rPr dirty="0"/>
              <a:t>. O </a:t>
            </a:r>
            <a:r>
              <a:rPr dirty="0" err="1"/>
              <a:t>desenho</a:t>
            </a:r>
            <a:r>
              <a:rPr dirty="0"/>
              <a:t> </a:t>
            </a:r>
            <a:r>
              <a:rPr dirty="0" err="1"/>
              <a:t>LumiMining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 </a:t>
            </a:r>
            <a:r>
              <a:rPr dirty="0" err="1"/>
              <a:t>tela</a:t>
            </a:r>
            <a:r>
              <a:rPr dirty="0"/>
              <a:t> de </a:t>
            </a:r>
            <a:r>
              <a:rPr dirty="0" err="1"/>
              <a:t>operação</a:t>
            </a:r>
            <a:r>
              <a:rPr dirty="0"/>
              <a:t> </a:t>
            </a:r>
            <a:r>
              <a:rPr dirty="0" err="1"/>
              <a:t>diária</a:t>
            </a:r>
            <a:r>
              <a:rPr dirty="0"/>
              <a:t> </a:t>
            </a:r>
            <a:r>
              <a:rPr dirty="0" err="1"/>
              <a:t>inclui</a:t>
            </a:r>
            <a:r>
              <a:rPr dirty="0"/>
              <a:t> </a:t>
            </a:r>
            <a:r>
              <a:rPr dirty="0" err="1"/>
              <a:t>apontamentos</a:t>
            </a:r>
            <a:r>
              <a:rPr dirty="0"/>
              <a:t>, </a:t>
            </a:r>
            <a:r>
              <a:rPr dirty="0" err="1"/>
              <a:t>medições</a:t>
            </a:r>
            <a:r>
              <a:rPr dirty="0"/>
              <a:t>, </a:t>
            </a:r>
            <a:r>
              <a:rPr dirty="0" err="1"/>
              <a:t>paradas</a:t>
            </a:r>
            <a:r>
              <a:rPr dirty="0"/>
              <a:t>, </a:t>
            </a:r>
            <a:r>
              <a:rPr dirty="0" err="1"/>
              <a:t>inspeções</a:t>
            </a:r>
            <a:r>
              <a:rPr dirty="0"/>
              <a:t> e </a:t>
            </a:r>
            <a:r>
              <a:rPr dirty="0" err="1"/>
              <a:t>informações</a:t>
            </a:r>
            <a:r>
              <a:rPr dirty="0"/>
              <a:t> de custos das </a:t>
            </a:r>
            <a:r>
              <a:rPr dirty="0" err="1"/>
              <a:t>ordens</a:t>
            </a:r>
            <a:r>
              <a:rPr dirty="0"/>
              <a:t>. Para a </a:t>
            </a:r>
            <a:r>
              <a:rPr dirty="0" err="1"/>
              <a:t>LumiMining</a:t>
            </a:r>
            <a:r>
              <a:rPr dirty="0"/>
              <a:t>, </a:t>
            </a:r>
            <a:r>
              <a:rPr dirty="0" err="1"/>
              <a:t>precisamos</a:t>
            </a:r>
            <a:r>
              <a:rPr dirty="0"/>
              <a:t> </a:t>
            </a:r>
            <a:r>
              <a:rPr dirty="0" err="1"/>
              <a:t>conectar</a:t>
            </a:r>
            <a:r>
              <a:rPr dirty="0"/>
              <a:t> esses 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trabalho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 </a:t>
            </a:r>
            <a:r>
              <a:rPr dirty="0" err="1"/>
              <a:t>pessoa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fazendo</a:t>
            </a:r>
            <a:r>
              <a:rPr dirty="0"/>
              <a:t>, </a:t>
            </a:r>
            <a:r>
              <a:rPr dirty="0" err="1"/>
              <a:t>evitando</a:t>
            </a:r>
            <a:r>
              <a:rPr dirty="0"/>
              <a:t> </a:t>
            </a:r>
            <a:r>
              <a:rPr dirty="0" err="1"/>
              <a:t>preenchimento</a:t>
            </a:r>
            <a:r>
              <a:rPr dirty="0"/>
              <a:t> </a:t>
            </a:r>
            <a:r>
              <a:rPr dirty="0" err="1"/>
              <a:t>repetido</a:t>
            </a:r>
            <a:r>
              <a:rPr dirty="0"/>
              <a:t>. O </a:t>
            </a:r>
            <a:r>
              <a:rPr dirty="0" err="1"/>
              <a:t>custo</a:t>
            </a:r>
            <a:r>
              <a:rPr dirty="0"/>
              <a:t> </a:t>
            </a:r>
            <a:r>
              <a:rPr dirty="0" err="1"/>
              <a:t>registrado</a:t>
            </a:r>
            <a:r>
              <a:rPr dirty="0"/>
              <a:t> no CMMS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precisa</a:t>
            </a:r>
            <a:r>
              <a:rPr dirty="0"/>
              <a:t> </a:t>
            </a:r>
            <a:r>
              <a:rPr dirty="0" err="1"/>
              <a:t>conversar</a:t>
            </a:r>
            <a:r>
              <a:rPr dirty="0"/>
              <a:t> com o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financeiro</a:t>
            </a:r>
            <a:r>
              <a:rPr dirty="0"/>
              <a:t> do </a:t>
            </a:r>
            <a:r>
              <a:rPr dirty="0" err="1"/>
              <a:t>cliente</a:t>
            </a:r>
            <a:r>
              <a:rPr dirty="0"/>
              <a:t>. A </a:t>
            </a:r>
            <a:r>
              <a:rPr dirty="0" err="1"/>
              <a:t>experiência</a:t>
            </a:r>
            <a:r>
              <a:rPr dirty="0"/>
              <a:t> </a:t>
            </a:r>
            <a:r>
              <a:rPr dirty="0" err="1"/>
              <a:t>móvel</a:t>
            </a:r>
            <a:r>
              <a:rPr dirty="0"/>
              <a:t> e a </a:t>
            </a:r>
            <a:r>
              <a:rPr dirty="0" err="1"/>
              <a:t>operação</a:t>
            </a:r>
            <a:r>
              <a:rPr dirty="0"/>
              <a:t> offline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propostas</a:t>
            </a:r>
            <a:r>
              <a:rPr dirty="0"/>
              <a:t> </a:t>
            </a:r>
            <a:r>
              <a:rPr dirty="0" err="1"/>
              <a:t>nossas</a:t>
            </a:r>
            <a:r>
              <a:rPr dirty="0"/>
              <a:t> e </a:t>
            </a:r>
            <a:r>
              <a:rPr dirty="0" err="1"/>
              <a:t>dependem</a:t>
            </a:r>
            <a:r>
              <a:rPr dirty="0"/>
              <a:t> da </a:t>
            </a:r>
            <a:r>
              <a:rPr dirty="0" err="1"/>
              <a:t>validação</a:t>
            </a:r>
            <a:r>
              <a:rPr dirty="0"/>
              <a:t> do </a:t>
            </a:r>
            <a:r>
              <a:rPr dirty="0" err="1"/>
              <a:t>piloto</a:t>
            </a:r>
            <a:r>
              <a:rPr dirty="0"/>
              <a:t>. O </a:t>
            </a:r>
            <a:r>
              <a:rPr dirty="0" err="1"/>
              <a:t>anexo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comprova</a:t>
            </a:r>
            <a:r>
              <a:rPr dirty="0"/>
              <a:t> esses </a:t>
            </a:r>
            <a:r>
              <a:rPr dirty="0" err="1"/>
              <a:t>recursos</a:t>
            </a:r>
            <a:r>
              <a:rPr dirty="0"/>
              <a:t>. Quero </a:t>
            </a:r>
            <a:r>
              <a:rPr dirty="0" err="1"/>
              <a:t>entender</a:t>
            </a:r>
            <a:r>
              <a:rPr dirty="0"/>
              <a:t> </a:t>
            </a:r>
            <a:r>
              <a:rPr dirty="0" err="1"/>
              <a:t>contigo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podemos</a:t>
            </a:r>
            <a:r>
              <a:rPr dirty="0"/>
              <a:t> </a:t>
            </a:r>
            <a:r>
              <a:rPr dirty="0" err="1"/>
              <a:t>tornar</a:t>
            </a:r>
            <a:r>
              <a:rPr dirty="0"/>
              <a:t> esse </a:t>
            </a:r>
            <a:r>
              <a:rPr dirty="0" err="1"/>
              <a:t>fluxo</a:t>
            </a:r>
            <a:r>
              <a:rPr dirty="0"/>
              <a:t> simples para o </a:t>
            </a:r>
            <a:r>
              <a:rPr dirty="0" err="1"/>
              <a:t>técnico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Referência</a:t>
            </a:r>
            <a:r>
              <a:rPr dirty="0"/>
              <a:t>: </a:t>
            </a:r>
            <a:r>
              <a:rPr dirty="0" err="1"/>
              <a:t>AMT_Screens.pptx</a:t>
            </a:r>
            <a:r>
              <a:rPr dirty="0"/>
              <a:t>, slides 10, 12–13. A </a:t>
            </a:r>
            <a:r>
              <a:rPr dirty="0" err="1"/>
              <a:t>presença</a:t>
            </a:r>
            <a:r>
              <a:rPr dirty="0"/>
              <a:t> no menu </a:t>
            </a:r>
            <a:r>
              <a:rPr dirty="0" err="1"/>
              <a:t>confirma</a:t>
            </a:r>
            <a:r>
              <a:rPr dirty="0"/>
              <a:t> a </a:t>
            </a:r>
            <a:r>
              <a:rPr dirty="0" err="1"/>
              <a:t>área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detalhado</a:t>
            </a:r>
            <a:r>
              <a:rPr dirty="0"/>
              <a:t>. O </a:t>
            </a:r>
            <a:r>
              <a:rPr dirty="0" err="1"/>
              <a:t>desenho</a:t>
            </a:r>
            <a:r>
              <a:rPr dirty="0"/>
              <a:t> </a:t>
            </a:r>
            <a:r>
              <a:rPr dirty="0" err="1"/>
              <a:t>LumiMining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 AMT </a:t>
            </a:r>
            <a:r>
              <a:rPr dirty="0" err="1"/>
              <a:t>reúne</a:t>
            </a:r>
            <a:r>
              <a:rPr dirty="0"/>
              <a:t> </a:t>
            </a:r>
            <a:r>
              <a:rPr dirty="0" err="1"/>
              <a:t>indicadores</a:t>
            </a:r>
            <a:r>
              <a:rPr dirty="0"/>
              <a:t>, </a:t>
            </a:r>
            <a:r>
              <a:rPr dirty="0" err="1"/>
              <a:t>consultas</a:t>
            </a:r>
            <a:r>
              <a:rPr dirty="0"/>
              <a:t> de </a:t>
            </a:r>
            <a:r>
              <a:rPr dirty="0" err="1"/>
              <a:t>exceção</a:t>
            </a:r>
            <a:r>
              <a:rPr dirty="0"/>
              <a:t>, </a:t>
            </a:r>
            <a:r>
              <a:rPr dirty="0" err="1"/>
              <a:t>análises</a:t>
            </a:r>
            <a:r>
              <a:rPr dirty="0"/>
              <a:t> de </a:t>
            </a:r>
            <a:r>
              <a:rPr dirty="0" err="1"/>
              <a:t>componentes</a:t>
            </a:r>
            <a:r>
              <a:rPr dirty="0"/>
              <a:t> e </a:t>
            </a:r>
            <a:r>
              <a:rPr dirty="0" err="1"/>
              <a:t>orçamento</a:t>
            </a:r>
            <a:r>
              <a:rPr dirty="0"/>
              <a:t>. A </a:t>
            </a:r>
            <a:r>
              <a:rPr dirty="0" err="1"/>
              <a:t>proposta</a:t>
            </a:r>
            <a:r>
              <a:rPr dirty="0"/>
              <a:t> para </a:t>
            </a:r>
            <a:r>
              <a:rPr dirty="0" err="1"/>
              <a:t>nós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esses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venham</a:t>
            </a:r>
            <a:r>
              <a:rPr dirty="0"/>
              <a:t> dos </a:t>
            </a:r>
            <a:r>
              <a:rPr dirty="0" err="1"/>
              <a:t>mesmos</a:t>
            </a:r>
            <a:r>
              <a:rPr dirty="0"/>
              <a:t> 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usados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operação</a:t>
            </a:r>
            <a:r>
              <a:rPr dirty="0"/>
              <a:t>. Antes de </a:t>
            </a:r>
            <a:r>
              <a:rPr dirty="0" err="1"/>
              <a:t>apresentar</a:t>
            </a:r>
            <a:r>
              <a:rPr dirty="0"/>
              <a:t> um </a:t>
            </a:r>
            <a:r>
              <a:rPr dirty="0" err="1"/>
              <a:t>indicador</a:t>
            </a:r>
            <a:r>
              <a:rPr dirty="0"/>
              <a:t>, </a:t>
            </a:r>
            <a:r>
              <a:rPr dirty="0" err="1"/>
              <a:t>precisamos</a:t>
            </a:r>
            <a:r>
              <a:rPr dirty="0"/>
              <a:t> </a:t>
            </a:r>
            <a:r>
              <a:rPr dirty="0" err="1"/>
              <a:t>combinar</a:t>
            </a:r>
            <a:r>
              <a:rPr dirty="0"/>
              <a:t>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definição</a:t>
            </a:r>
            <a:r>
              <a:rPr dirty="0"/>
              <a:t>, </a:t>
            </a:r>
            <a:r>
              <a:rPr dirty="0" err="1"/>
              <a:t>período</a:t>
            </a:r>
            <a:r>
              <a:rPr dirty="0"/>
              <a:t> e </a:t>
            </a:r>
            <a:r>
              <a:rPr dirty="0" err="1"/>
              <a:t>origem</a:t>
            </a:r>
            <a:r>
              <a:rPr dirty="0"/>
              <a:t> dos dados.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números</a:t>
            </a:r>
            <a:r>
              <a:rPr dirty="0"/>
              <a:t> das </a:t>
            </a:r>
            <a:r>
              <a:rPr dirty="0" err="1"/>
              <a:t>telas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exemplos</a:t>
            </a:r>
            <a:r>
              <a:rPr dirty="0"/>
              <a:t> do </a:t>
            </a:r>
            <a:r>
              <a:rPr dirty="0" err="1"/>
              <a:t>ambiente</a:t>
            </a:r>
            <a:r>
              <a:rPr dirty="0"/>
              <a:t> </a:t>
            </a:r>
            <a:r>
              <a:rPr dirty="0" err="1"/>
              <a:t>capturado</a:t>
            </a:r>
            <a:r>
              <a:rPr dirty="0"/>
              <a:t> 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serão</a:t>
            </a:r>
            <a:r>
              <a:rPr dirty="0"/>
              <a:t> </a:t>
            </a:r>
            <a:r>
              <a:rPr dirty="0" err="1"/>
              <a:t>metas</a:t>
            </a:r>
            <a:r>
              <a:rPr dirty="0"/>
              <a:t> do </a:t>
            </a:r>
            <a:r>
              <a:rPr dirty="0" err="1"/>
              <a:t>produto</a:t>
            </a:r>
            <a:r>
              <a:rPr dirty="0"/>
              <a:t>.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devemos</a:t>
            </a:r>
            <a:r>
              <a:rPr dirty="0"/>
              <a:t> </a:t>
            </a:r>
            <a:r>
              <a:rPr dirty="0" err="1"/>
              <a:t>separar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previsão</a:t>
            </a:r>
            <a:r>
              <a:rPr dirty="0"/>
              <a:t> </a:t>
            </a:r>
            <a:r>
              <a:rPr dirty="0" err="1"/>
              <a:t>calculada</a:t>
            </a:r>
            <a:r>
              <a:rPr dirty="0"/>
              <a:t> de um valor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realizado</a:t>
            </a:r>
            <a:r>
              <a:rPr dirty="0"/>
              <a:t>. Isso </a:t>
            </a:r>
            <a:r>
              <a:rPr dirty="0" err="1"/>
              <a:t>ajuda</a:t>
            </a:r>
            <a:r>
              <a:rPr dirty="0"/>
              <a:t> o </a:t>
            </a:r>
            <a:r>
              <a:rPr dirty="0" err="1"/>
              <a:t>usuário</a:t>
            </a:r>
            <a:r>
              <a:rPr dirty="0"/>
              <a:t> a </a:t>
            </a:r>
            <a:r>
              <a:rPr dirty="0" err="1"/>
              <a:t>entender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ele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vendo</a:t>
            </a:r>
            <a:r>
              <a:rPr dirty="0"/>
              <a:t> e a </a:t>
            </a:r>
            <a:r>
              <a:rPr dirty="0" err="1"/>
              <a:t>confiar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informação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Referência</a:t>
            </a:r>
            <a:r>
              <a:rPr dirty="0"/>
              <a:t>: </a:t>
            </a:r>
            <a:r>
              <a:rPr dirty="0" err="1"/>
              <a:t>AMT_Screens.pptx</a:t>
            </a:r>
            <a:r>
              <a:rPr dirty="0"/>
              <a:t>, slides 2, 13–15. A </a:t>
            </a:r>
            <a:r>
              <a:rPr dirty="0" err="1"/>
              <a:t>presença</a:t>
            </a:r>
            <a:r>
              <a:rPr dirty="0"/>
              <a:t> no menu </a:t>
            </a:r>
            <a:r>
              <a:rPr dirty="0" err="1"/>
              <a:t>confirma</a:t>
            </a:r>
            <a:r>
              <a:rPr dirty="0"/>
              <a:t> a </a:t>
            </a:r>
            <a:r>
              <a:rPr dirty="0" err="1"/>
              <a:t>área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detalhado</a:t>
            </a:r>
            <a:r>
              <a:rPr dirty="0"/>
              <a:t>. O </a:t>
            </a:r>
            <a:r>
              <a:rPr dirty="0" err="1"/>
              <a:t>desenho</a:t>
            </a:r>
            <a:r>
              <a:rPr dirty="0"/>
              <a:t> </a:t>
            </a:r>
            <a:r>
              <a:rPr dirty="0" err="1"/>
              <a:t>LumiMining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Essa </a:t>
            </a:r>
            <a:r>
              <a:rPr dirty="0" err="1"/>
              <a:t>divisão</a:t>
            </a:r>
            <a:r>
              <a:rPr dirty="0"/>
              <a:t> continua </a:t>
            </a:r>
            <a:r>
              <a:rPr dirty="0" err="1"/>
              <a:t>sendo</a:t>
            </a:r>
            <a:r>
              <a:rPr dirty="0"/>
              <a:t> </a:t>
            </a:r>
            <a:r>
              <a:rPr dirty="0" err="1"/>
              <a:t>importante</a:t>
            </a:r>
            <a:r>
              <a:rPr dirty="0"/>
              <a:t>. O CMMS </a:t>
            </a:r>
            <a:r>
              <a:rPr dirty="0" err="1"/>
              <a:t>conduz</a:t>
            </a:r>
            <a:r>
              <a:rPr dirty="0"/>
              <a:t> o </a:t>
            </a:r>
            <a:r>
              <a:rPr dirty="0" err="1"/>
              <a:t>trabalho</a:t>
            </a:r>
            <a:r>
              <a:rPr dirty="0"/>
              <a:t>. O Asset Health </a:t>
            </a:r>
            <a:r>
              <a:rPr dirty="0" err="1"/>
              <a:t>apoia</a:t>
            </a:r>
            <a:r>
              <a:rPr dirty="0"/>
              <a:t> a </a:t>
            </a:r>
            <a:r>
              <a:rPr dirty="0" err="1"/>
              <a:t>avaliação</a:t>
            </a:r>
            <a:r>
              <a:rPr dirty="0"/>
              <a:t> da </a:t>
            </a:r>
            <a:r>
              <a:rPr dirty="0" err="1"/>
              <a:t>condição</a:t>
            </a:r>
            <a:r>
              <a:rPr dirty="0"/>
              <a:t> e </a:t>
            </a:r>
            <a:r>
              <a:rPr dirty="0" err="1"/>
              <a:t>recebe</a:t>
            </a:r>
            <a:r>
              <a:rPr dirty="0"/>
              <a:t> o </a:t>
            </a:r>
            <a:r>
              <a:rPr dirty="0" err="1"/>
              <a:t>resultado</a:t>
            </a:r>
            <a:r>
              <a:rPr dirty="0"/>
              <a:t> da </a:t>
            </a:r>
            <a:r>
              <a:rPr dirty="0" err="1"/>
              <a:t>intervenção</a:t>
            </a:r>
            <a:r>
              <a:rPr dirty="0"/>
              <a:t>. Para </a:t>
            </a:r>
            <a:r>
              <a:rPr dirty="0" err="1"/>
              <a:t>peças</a:t>
            </a:r>
            <a:r>
              <a:rPr dirty="0"/>
              <a:t> e custos, </a:t>
            </a:r>
            <a:r>
              <a:rPr dirty="0" err="1"/>
              <a:t>precisamos</a:t>
            </a:r>
            <a:r>
              <a:rPr dirty="0"/>
              <a:t> </a:t>
            </a:r>
            <a:r>
              <a:rPr dirty="0" err="1"/>
              <a:t>entender</a:t>
            </a:r>
            <a:r>
              <a:rPr dirty="0"/>
              <a:t> qual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será</a:t>
            </a:r>
            <a:r>
              <a:rPr dirty="0"/>
              <a:t> o </a:t>
            </a:r>
            <a:r>
              <a:rPr dirty="0" err="1"/>
              <a:t>dono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informação</a:t>
            </a:r>
            <a:r>
              <a:rPr dirty="0"/>
              <a:t>. Um </a:t>
            </a:r>
            <a:r>
              <a:rPr dirty="0" err="1"/>
              <a:t>ponto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quero</a:t>
            </a:r>
            <a:r>
              <a:rPr dirty="0"/>
              <a:t> resolver </a:t>
            </a:r>
            <a:r>
              <a:rPr dirty="0" err="1"/>
              <a:t>cedo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reconhecer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demanda</a:t>
            </a:r>
            <a:r>
              <a:rPr dirty="0"/>
              <a:t>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existente</a:t>
            </a:r>
            <a:r>
              <a:rPr dirty="0"/>
              <a:t>, para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vários</a:t>
            </a:r>
            <a:r>
              <a:rPr dirty="0"/>
              <a:t> </a:t>
            </a:r>
            <a:r>
              <a:rPr dirty="0" err="1"/>
              <a:t>alertas</a:t>
            </a:r>
            <a:r>
              <a:rPr dirty="0"/>
              <a:t> </a:t>
            </a:r>
            <a:r>
              <a:rPr dirty="0" err="1"/>
              <a:t>relacionados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gerem</a:t>
            </a:r>
            <a:r>
              <a:rPr dirty="0"/>
              <a:t> </a:t>
            </a:r>
            <a:r>
              <a:rPr dirty="0" err="1"/>
              <a:t>ordens</a:t>
            </a:r>
            <a:r>
              <a:rPr dirty="0"/>
              <a:t> </a:t>
            </a:r>
            <a:r>
              <a:rPr dirty="0" err="1"/>
              <a:t>duplicadas</a:t>
            </a:r>
            <a:r>
              <a:rPr dirty="0"/>
              <a:t>.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precisamos</a:t>
            </a:r>
            <a:r>
              <a:rPr dirty="0"/>
              <a:t> </a:t>
            </a:r>
            <a:r>
              <a:rPr dirty="0" err="1"/>
              <a:t>combinar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acontece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integração</a:t>
            </a:r>
            <a:r>
              <a:rPr dirty="0"/>
              <a:t> </a:t>
            </a:r>
            <a:r>
              <a:rPr dirty="0" err="1"/>
              <a:t>falha</a:t>
            </a:r>
            <a:r>
              <a:rPr dirty="0"/>
              <a:t>. As </a:t>
            </a:r>
            <a:r>
              <a:rPr dirty="0" err="1"/>
              <a:t>fronteiras</a:t>
            </a:r>
            <a:r>
              <a:rPr dirty="0"/>
              <a:t> </a:t>
            </a:r>
            <a:r>
              <a:rPr dirty="0" err="1"/>
              <a:t>aqui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propostas</a:t>
            </a:r>
            <a:r>
              <a:rPr dirty="0"/>
              <a:t> para a </a:t>
            </a:r>
            <a:r>
              <a:rPr dirty="0" err="1"/>
              <a:t>LumiMining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reprodução</a:t>
            </a:r>
            <a:r>
              <a:rPr dirty="0"/>
              <a:t> da </a:t>
            </a:r>
            <a:r>
              <a:rPr dirty="0" err="1"/>
              <a:t>arquitetura</a:t>
            </a:r>
            <a:r>
              <a:rPr dirty="0"/>
              <a:t> do AMT.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Esses </a:t>
            </a:r>
            <a:r>
              <a:rPr dirty="0" err="1"/>
              <a:t>módulos</a:t>
            </a:r>
            <a:r>
              <a:rPr dirty="0"/>
              <a:t> </a:t>
            </a:r>
            <a:r>
              <a:rPr dirty="0" err="1"/>
              <a:t>ajudam</a:t>
            </a:r>
            <a:r>
              <a:rPr dirty="0"/>
              <a:t> a </a:t>
            </a:r>
            <a:r>
              <a:rPr dirty="0" err="1"/>
              <a:t>enxergar</a:t>
            </a:r>
            <a:r>
              <a:rPr dirty="0"/>
              <a:t> </a:t>
            </a:r>
            <a:r>
              <a:rPr dirty="0" err="1"/>
              <a:t>caminhos</a:t>
            </a:r>
            <a:r>
              <a:rPr dirty="0"/>
              <a:t> de </a:t>
            </a:r>
            <a:r>
              <a:rPr dirty="0" err="1"/>
              <a:t>expansão</a:t>
            </a:r>
            <a:r>
              <a:rPr dirty="0"/>
              <a:t>. </a:t>
            </a:r>
            <a:r>
              <a:rPr dirty="0" err="1"/>
              <a:t>Contratos</a:t>
            </a:r>
            <a:r>
              <a:rPr dirty="0"/>
              <a:t> e </a:t>
            </a:r>
            <a:r>
              <a:rPr dirty="0" err="1"/>
              <a:t>locação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ser </a:t>
            </a:r>
            <a:r>
              <a:rPr dirty="0" err="1"/>
              <a:t>relevantes</a:t>
            </a:r>
            <a:r>
              <a:rPr dirty="0"/>
              <a:t> para um </a:t>
            </a:r>
            <a:r>
              <a:rPr dirty="0" err="1"/>
              <a:t>prestador</a:t>
            </a:r>
            <a:r>
              <a:rPr dirty="0"/>
              <a:t> de </a:t>
            </a:r>
            <a:r>
              <a:rPr dirty="0" err="1"/>
              <a:t>serviço</a:t>
            </a:r>
            <a:r>
              <a:rPr dirty="0"/>
              <a:t>. </a:t>
            </a:r>
            <a:r>
              <a:rPr dirty="0" err="1"/>
              <a:t>Componentes</a:t>
            </a:r>
            <a:r>
              <a:rPr dirty="0"/>
              <a:t> </a:t>
            </a:r>
            <a:r>
              <a:rPr dirty="0" err="1"/>
              <a:t>recuperáveis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ter </a:t>
            </a:r>
            <a:r>
              <a:rPr dirty="0" err="1"/>
              <a:t>bastante</a:t>
            </a:r>
            <a:r>
              <a:rPr dirty="0"/>
              <a:t> valor para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operação</a:t>
            </a:r>
            <a:r>
              <a:rPr dirty="0"/>
              <a:t> com </a:t>
            </a:r>
            <a:r>
              <a:rPr dirty="0" err="1"/>
              <a:t>trocas</a:t>
            </a:r>
            <a:r>
              <a:rPr dirty="0"/>
              <a:t> </a:t>
            </a:r>
            <a:r>
              <a:rPr dirty="0" err="1"/>
              <a:t>frequentes</a:t>
            </a:r>
            <a:r>
              <a:rPr dirty="0"/>
              <a:t>.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grandes</a:t>
            </a:r>
            <a:r>
              <a:rPr dirty="0"/>
              <a:t> </a:t>
            </a:r>
            <a:r>
              <a:rPr dirty="0" err="1"/>
              <a:t>paradas</a:t>
            </a:r>
            <a:r>
              <a:rPr dirty="0"/>
              <a:t> </a:t>
            </a:r>
            <a:r>
              <a:rPr dirty="0" err="1"/>
              <a:t>trazem</a:t>
            </a:r>
            <a:r>
              <a:rPr dirty="0"/>
              <a:t> outro </a:t>
            </a:r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coordenação</a:t>
            </a:r>
            <a:r>
              <a:rPr dirty="0"/>
              <a:t>. Minha </a:t>
            </a:r>
            <a:r>
              <a:rPr dirty="0" err="1"/>
              <a:t>sugestão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registrar </a:t>
            </a:r>
            <a:r>
              <a:rPr dirty="0" err="1"/>
              <a:t>essas</a:t>
            </a:r>
            <a:r>
              <a:rPr dirty="0"/>
              <a:t> </a:t>
            </a:r>
            <a:r>
              <a:rPr dirty="0" err="1"/>
              <a:t>possibilidades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assumir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</a:t>
            </a:r>
            <a:r>
              <a:rPr dirty="0" err="1"/>
              <a:t>entram</a:t>
            </a:r>
            <a:r>
              <a:rPr dirty="0"/>
              <a:t> no </a:t>
            </a:r>
            <a:r>
              <a:rPr dirty="0" err="1"/>
              <a:t>produto</a:t>
            </a:r>
            <a:r>
              <a:rPr dirty="0"/>
              <a:t> agora. Em </a:t>
            </a:r>
            <a:r>
              <a:rPr dirty="0" err="1"/>
              <a:t>vários</a:t>
            </a:r>
            <a:r>
              <a:rPr dirty="0"/>
              <a:t> </a:t>
            </a:r>
            <a:r>
              <a:rPr dirty="0" err="1"/>
              <a:t>casos</a:t>
            </a:r>
            <a:r>
              <a:rPr dirty="0"/>
              <a:t>, o material </a:t>
            </a:r>
            <a:r>
              <a:rPr dirty="0" err="1"/>
              <a:t>mostra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o menu. </a:t>
            </a:r>
            <a:r>
              <a:rPr dirty="0" err="1"/>
              <a:t>Precisamos</a:t>
            </a:r>
            <a:r>
              <a:rPr dirty="0"/>
              <a:t> </a:t>
            </a:r>
            <a:r>
              <a:rPr dirty="0" err="1"/>
              <a:t>conversar</a:t>
            </a:r>
            <a:r>
              <a:rPr dirty="0"/>
              <a:t> com </a:t>
            </a:r>
            <a:r>
              <a:rPr dirty="0" err="1"/>
              <a:t>usuários</a:t>
            </a:r>
            <a:r>
              <a:rPr dirty="0"/>
              <a:t> e </a:t>
            </a:r>
            <a:r>
              <a:rPr dirty="0" err="1"/>
              <a:t>aprofundar</a:t>
            </a:r>
            <a:r>
              <a:rPr dirty="0"/>
              <a:t> a </a:t>
            </a:r>
            <a:r>
              <a:rPr dirty="0" err="1"/>
              <a:t>documentação</a:t>
            </a:r>
            <a:r>
              <a:rPr dirty="0"/>
              <a:t> antes de </a:t>
            </a:r>
            <a:r>
              <a:rPr dirty="0" err="1"/>
              <a:t>transformar</a:t>
            </a:r>
            <a:r>
              <a:rPr dirty="0"/>
              <a:t> esses </a:t>
            </a:r>
            <a:r>
              <a:rPr dirty="0" err="1"/>
              <a:t>nomes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requisitos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Referência</a:t>
            </a:r>
            <a:r>
              <a:rPr dirty="0"/>
              <a:t>: </a:t>
            </a:r>
            <a:r>
              <a:rPr dirty="0" err="1"/>
              <a:t>AMT_Screens.pptx</a:t>
            </a:r>
            <a:r>
              <a:rPr dirty="0"/>
              <a:t>, slides 5–6, 16–20. A </a:t>
            </a:r>
            <a:r>
              <a:rPr dirty="0" err="1"/>
              <a:t>presença</a:t>
            </a:r>
            <a:r>
              <a:rPr dirty="0"/>
              <a:t> no menu </a:t>
            </a:r>
            <a:r>
              <a:rPr dirty="0" err="1"/>
              <a:t>confirma</a:t>
            </a:r>
            <a:r>
              <a:rPr dirty="0"/>
              <a:t> a </a:t>
            </a:r>
            <a:r>
              <a:rPr dirty="0" err="1"/>
              <a:t>área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detalhado</a:t>
            </a:r>
            <a:r>
              <a:rPr dirty="0"/>
              <a:t>. O </a:t>
            </a:r>
            <a:r>
              <a:rPr dirty="0" err="1"/>
              <a:t>desenho</a:t>
            </a:r>
            <a:r>
              <a:rPr dirty="0"/>
              <a:t> </a:t>
            </a:r>
            <a:r>
              <a:rPr dirty="0" err="1"/>
              <a:t>LumiMining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Aqui </a:t>
            </a:r>
            <a:r>
              <a:rPr dirty="0" err="1"/>
              <a:t>está</a:t>
            </a:r>
            <a:r>
              <a:rPr dirty="0"/>
              <a:t> o </a:t>
            </a:r>
            <a:r>
              <a:rPr dirty="0" err="1"/>
              <a:t>recorte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proponho</a:t>
            </a:r>
            <a:r>
              <a:rPr dirty="0"/>
              <a:t> </a:t>
            </a:r>
            <a:r>
              <a:rPr dirty="0" err="1"/>
              <a:t>depois</a:t>
            </a:r>
            <a:r>
              <a:rPr dirty="0"/>
              <a:t> de </a:t>
            </a:r>
            <a:r>
              <a:rPr dirty="0" err="1"/>
              <a:t>olhar</a:t>
            </a:r>
            <a:r>
              <a:rPr dirty="0"/>
              <a:t> a </a:t>
            </a:r>
            <a:r>
              <a:rPr dirty="0" err="1"/>
              <a:t>estrutura</a:t>
            </a:r>
            <a:r>
              <a:rPr dirty="0"/>
              <a:t> do AMT. A </a:t>
            </a:r>
            <a:r>
              <a:rPr dirty="0" err="1"/>
              <a:t>primeira</a:t>
            </a:r>
            <a:r>
              <a:rPr dirty="0"/>
              <a:t> </a:t>
            </a:r>
            <a:r>
              <a:rPr dirty="0" err="1"/>
              <a:t>entrega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permitir</a:t>
            </a:r>
            <a:r>
              <a:rPr dirty="0"/>
              <a:t> </a:t>
            </a:r>
            <a:r>
              <a:rPr dirty="0" err="1"/>
              <a:t>concluir</a:t>
            </a:r>
            <a:r>
              <a:rPr dirty="0"/>
              <a:t> um </a:t>
            </a:r>
            <a:r>
              <a:rPr dirty="0" err="1"/>
              <a:t>trabalho</a:t>
            </a:r>
            <a:r>
              <a:rPr dirty="0"/>
              <a:t> com </a:t>
            </a:r>
            <a:r>
              <a:rPr dirty="0" err="1"/>
              <a:t>rastreabilidade</a:t>
            </a:r>
            <a:r>
              <a:rPr dirty="0"/>
              <a:t>. Na </a:t>
            </a:r>
            <a:r>
              <a:rPr dirty="0" err="1"/>
              <a:t>sequência</a:t>
            </a:r>
            <a:r>
              <a:rPr dirty="0"/>
              <a:t>, </a:t>
            </a:r>
            <a:r>
              <a:rPr dirty="0" err="1"/>
              <a:t>podemos</a:t>
            </a:r>
            <a:r>
              <a:rPr dirty="0"/>
              <a:t> </a:t>
            </a:r>
            <a:r>
              <a:rPr dirty="0" err="1"/>
              <a:t>aprofundar</a:t>
            </a:r>
            <a:r>
              <a:rPr dirty="0"/>
              <a:t> </a:t>
            </a:r>
            <a:r>
              <a:rPr dirty="0" err="1"/>
              <a:t>planejamento</a:t>
            </a:r>
            <a:r>
              <a:rPr dirty="0"/>
              <a:t>, </a:t>
            </a:r>
            <a:r>
              <a:rPr dirty="0" err="1"/>
              <a:t>componentes</a:t>
            </a:r>
            <a:r>
              <a:rPr dirty="0"/>
              <a:t> e custos. </a:t>
            </a:r>
            <a:r>
              <a:rPr dirty="0" err="1"/>
              <a:t>Depois</a:t>
            </a:r>
            <a:r>
              <a:rPr dirty="0"/>
              <a:t> </a:t>
            </a:r>
            <a:r>
              <a:rPr dirty="0" err="1"/>
              <a:t>vêm</a:t>
            </a:r>
            <a:r>
              <a:rPr dirty="0"/>
              <a:t> as </a:t>
            </a:r>
            <a:r>
              <a:rPr dirty="0" err="1"/>
              <a:t>análises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dependem</a:t>
            </a:r>
            <a:r>
              <a:rPr dirty="0"/>
              <a:t> de histórico </a:t>
            </a:r>
            <a:r>
              <a:rPr dirty="0" err="1"/>
              <a:t>consistente</a:t>
            </a:r>
            <a:r>
              <a:rPr dirty="0"/>
              <a:t>. Essa </a:t>
            </a:r>
            <a:r>
              <a:rPr dirty="0" err="1"/>
              <a:t>ordem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: se o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</a:t>
            </a:r>
            <a:r>
              <a:rPr dirty="0" err="1"/>
              <a:t>depende</a:t>
            </a:r>
            <a:r>
              <a:rPr dirty="0"/>
              <a:t> de </a:t>
            </a:r>
            <a:r>
              <a:rPr dirty="0" err="1"/>
              <a:t>componentes</a:t>
            </a:r>
            <a:r>
              <a:rPr dirty="0"/>
              <a:t> </a:t>
            </a:r>
            <a:r>
              <a:rPr dirty="0" err="1"/>
              <a:t>serializados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de </a:t>
            </a:r>
            <a:r>
              <a:rPr dirty="0" err="1"/>
              <a:t>operação</a:t>
            </a:r>
            <a:r>
              <a:rPr dirty="0"/>
              <a:t> offline, </a:t>
            </a:r>
            <a:r>
              <a:rPr dirty="0" err="1"/>
              <a:t>teremos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antecipar</a:t>
            </a:r>
            <a:r>
              <a:rPr dirty="0"/>
              <a:t> esses </a:t>
            </a:r>
            <a:r>
              <a:rPr dirty="0" err="1"/>
              <a:t>itens</a:t>
            </a:r>
            <a:r>
              <a:rPr dirty="0"/>
              <a:t>. Quero </a:t>
            </a:r>
            <a:r>
              <a:rPr dirty="0" err="1"/>
              <a:t>ouvir</a:t>
            </a:r>
            <a:r>
              <a:rPr dirty="0"/>
              <a:t>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avaliação</a:t>
            </a:r>
            <a:r>
              <a:rPr dirty="0"/>
              <a:t> das </a:t>
            </a:r>
            <a:r>
              <a:rPr dirty="0" err="1"/>
              <a:t>dependências</a:t>
            </a:r>
            <a:r>
              <a:rPr dirty="0"/>
              <a:t> para </a:t>
            </a:r>
            <a:r>
              <a:rPr dirty="0" err="1"/>
              <a:t>ajustar</a:t>
            </a:r>
            <a:r>
              <a:rPr dirty="0"/>
              <a:t> a </a:t>
            </a:r>
            <a:r>
              <a:rPr dirty="0" err="1"/>
              <a:t>sequência</a:t>
            </a:r>
            <a:r>
              <a:rPr dirty="0"/>
              <a:t> antes de </a:t>
            </a:r>
            <a:r>
              <a:rPr dirty="0" err="1"/>
              <a:t>falar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prazo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Para </a:t>
            </a:r>
            <a:r>
              <a:rPr dirty="0" err="1"/>
              <a:t>considerar</a:t>
            </a:r>
            <a:r>
              <a:rPr dirty="0"/>
              <a:t> o </a:t>
            </a:r>
            <a:r>
              <a:rPr dirty="0" err="1"/>
              <a:t>piloto</a:t>
            </a:r>
            <a:r>
              <a:rPr dirty="0"/>
              <a:t> </a:t>
            </a:r>
            <a:r>
              <a:rPr dirty="0" err="1"/>
              <a:t>válido</a:t>
            </a:r>
            <a:r>
              <a:rPr dirty="0"/>
              <a:t>, </a:t>
            </a:r>
            <a:r>
              <a:rPr dirty="0" err="1"/>
              <a:t>eu</a:t>
            </a:r>
            <a:r>
              <a:rPr dirty="0"/>
              <a:t> </a:t>
            </a:r>
            <a:r>
              <a:rPr dirty="0" err="1"/>
              <a:t>gostaria</a:t>
            </a:r>
            <a:r>
              <a:rPr dirty="0"/>
              <a:t> de </a:t>
            </a:r>
            <a:r>
              <a:rPr dirty="0" err="1"/>
              <a:t>ver</a:t>
            </a:r>
            <a:r>
              <a:rPr dirty="0"/>
              <a:t> </a:t>
            </a:r>
            <a:r>
              <a:rPr dirty="0" err="1"/>
              <a:t>usuários</a:t>
            </a:r>
            <a:r>
              <a:rPr dirty="0"/>
              <a:t> reais </a:t>
            </a:r>
            <a:r>
              <a:rPr dirty="0" err="1"/>
              <a:t>percorrendo</a:t>
            </a:r>
            <a:r>
              <a:rPr dirty="0"/>
              <a:t> o </a:t>
            </a:r>
            <a:r>
              <a:rPr dirty="0" err="1"/>
              <a:t>fluxo</a:t>
            </a:r>
            <a:r>
              <a:rPr dirty="0"/>
              <a:t> com um </a:t>
            </a:r>
            <a:r>
              <a:rPr dirty="0" err="1"/>
              <a:t>caso</a:t>
            </a:r>
            <a:r>
              <a:rPr dirty="0"/>
              <a:t> de </a:t>
            </a:r>
            <a:r>
              <a:rPr dirty="0" err="1"/>
              <a:t>manutenção</a:t>
            </a:r>
            <a:r>
              <a:rPr dirty="0"/>
              <a:t>. Vamos </a:t>
            </a:r>
            <a:r>
              <a:rPr dirty="0" err="1"/>
              <a:t>observar</a:t>
            </a:r>
            <a:r>
              <a:rPr dirty="0"/>
              <a:t> </a:t>
            </a:r>
            <a:r>
              <a:rPr dirty="0" err="1"/>
              <a:t>onde</a:t>
            </a:r>
            <a:r>
              <a:rPr dirty="0"/>
              <a:t> </a:t>
            </a:r>
            <a:r>
              <a:rPr dirty="0" err="1"/>
              <a:t>eles</a:t>
            </a:r>
            <a:r>
              <a:rPr dirty="0"/>
              <a:t> </a:t>
            </a:r>
            <a:r>
              <a:rPr dirty="0" err="1"/>
              <a:t>precisam</a:t>
            </a:r>
            <a:r>
              <a:rPr dirty="0"/>
              <a:t> de </a:t>
            </a:r>
            <a:r>
              <a:rPr dirty="0" err="1"/>
              <a:t>ajuda</a:t>
            </a:r>
            <a:r>
              <a:rPr dirty="0"/>
              <a:t>, </a:t>
            </a:r>
            <a:r>
              <a:rPr dirty="0" err="1"/>
              <a:t>quanto</a:t>
            </a:r>
            <a:r>
              <a:rPr dirty="0"/>
              <a:t> tempo </a:t>
            </a:r>
            <a:r>
              <a:rPr dirty="0" err="1"/>
              <a:t>gastam</a:t>
            </a:r>
            <a:r>
              <a:rPr dirty="0"/>
              <a:t> e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fica</a:t>
            </a:r>
            <a:r>
              <a:rPr dirty="0"/>
              <a:t> </a:t>
            </a:r>
            <a:r>
              <a:rPr dirty="0" err="1"/>
              <a:t>registrado</a:t>
            </a:r>
            <a:r>
              <a:rPr dirty="0"/>
              <a:t>.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precisamos</a:t>
            </a:r>
            <a:r>
              <a:rPr dirty="0"/>
              <a:t> </a:t>
            </a:r>
            <a:r>
              <a:rPr dirty="0" err="1"/>
              <a:t>testar</a:t>
            </a:r>
            <a:r>
              <a:rPr dirty="0"/>
              <a:t> as </a:t>
            </a:r>
            <a:r>
              <a:rPr dirty="0" err="1"/>
              <a:t>situações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costumam</a:t>
            </a:r>
            <a:r>
              <a:rPr dirty="0"/>
              <a:t> </a:t>
            </a:r>
            <a:r>
              <a:rPr dirty="0" err="1"/>
              <a:t>quebrar</a:t>
            </a:r>
            <a:r>
              <a:rPr dirty="0"/>
              <a:t> a </a:t>
            </a:r>
            <a:r>
              <a:rPr dirty="0" err="1"/>
              <a:t>continuidade</a:t>
            </a:r>
            <a:r>
              <a:rPr dirty="0"/>
              <a:t>: </a:t>
            </a:r>
            <a:r>
              <a:rPr dirty="0" err="1"/>
              <a:t>falta</a:t>
            </a:r>
            <a:r>
              <a:rPr dirty="0"/>
              <a:t> de </a:t>
            </a:r>
            <a:r>
              <a:rPr dirty="0" err="1"/>
              <a:t>conexão</a:t>
            </a:r>
            <a:r>
              <a:rPr dirty="0"/>
              <a:t>, </a:t>
            </a:r>
            <a:r>
              <a:rPr dirty="0" err="1"/>
              <a:t>execução</a:t>
            </a:r>
            <a:r>
              <a:rPr dirty="0"/>
              <a:t> </a:t>
            </a:r>
            <a:r>
              <a:rPr dirty="0" err="1"/>
              <a:t>parcial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mensagem</a:t>
            </a:r>
            <a:r>
              <a:rPr dirty="0"/>
              <a:t> </a:t>
            </a:r>
            <a:r>
              <a:rPr dirty="0" err="1"/>
              <a:t>reenviada</a:t>
            </a:r>
            <a:r>
              <a:rPr dirty="0"/>
              <a:t> pela </a:t>
            </a:r>
            <a:r>
              <a:rPr dirty="0" err="1"/>
              <a:t>integração</a:t>
            </a:r>
            <a:r>
              <a:rPr dirty="0"/>
              <a:t>. Podemos </a:t>
            </a:r>
            <a:r>
              <a:rPr dirty="0" err="1"/>
              <a:t>acompanhar</a:t>
            </a:r>
            <a:r>
              <a:rPr dirty="0"/>
              <a:t> backlog e </a:t>
            </a:r>
            <a:r>
              <a:rPr dirty="0" err="1"/>
              <a:t>programação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o </a:t>
            </a:r>
            <a:r>
              <a:rPr dirty="0" err="1"/>
              <a:t>início</a:t>
            </a:r>
            <a:r>
              <a:rPr dirty="0"/>
              <a:t>.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impactos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disponibilidade</a:t>
            </a:r>
            <a:r>
              <a:rPr dirty="0"/>
              <a:t> e custos </a:t>
            </a:r>
            <a:r>
              <a:rPr dirty="0" err="1"/>
              <a:t>exigem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linha</a:t>
            </a:r>
            <a:r>
              <a:rPr dirty="0"/>
              <a:t> de base e um </a:t>
            </a:r>
            <a:r>
              <a:rPr dirty="0" err="1"/>
              <a:t>período</a:t>
            </a:r>
            <a:r>
              <a:rPr dirty="0"/>
              <a:t> de </a:t>
            </a:r>
            <a:r>
              <a:rPr dirty="0" err="1"/>
              <a:t>observação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Wilton, com </a:t>
            </a:r>
            <a:r>
              <a:rPr dirty="0" err="1"/>
              <a:t>essa</a:t>
            </a:r>
            <a:r>
              <a:rPr dirty="0"/>
              <a:t> </a:t>
            </a:r>
            <a:r>
              <a:rPr dirty="0" err="1"/>
              <a:t>estrutura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mãos</a:t>
            </a:r>
            <a:r>
              <a:rPr dirty="0"/>
              <a:t>, </a:t>
            </a:r>
            <a:r>
              <a:rPr dirty="0" err="1"/>
              <a:t>queria</a:t>
            </a:r>
            <a:r>
              <a:rPr dirty="0"/>
              <a:t> </a:t>
            </a:r>
            <a:r>
              <a:rPr dirty="0" err="1"/>
              <a:t>sair</a:t>
            </a:r>
            <a:r>
              <a:rPr dirty="0"/>
              <a:t> com um </a:t>
            </a:r>
            <a:r>
              <a:rPr dirty="0" err="1"/>
              <a:t>primeiro</a:t>
            </a:r>
            <a:r>
              <a:rPr dirty="0"/>
              <a:t> </a:t>
            </a:r>
            <a:r>
              <a:rPr dirty="0" err="1"/>
              <a:t>cenário</a:t>
            </a:r>
            <a:r>
              <a:rPr dirty="0"/>
              <a:t> </a:t>
            </a:r>
            <a:r>
              <a:rPr dirty="0" err="1"/>
              <a:t>escolhido</a:t>
            </a:r>
            <a:r>
              <a:rPr dirty="0"/>
              <a:t> 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divisão</a:t>
            </a:r>
            <a:r>
              <a:rPr dirty="0"/>
              <a:t> </a:t>
            </a:r>
            <a:r>
              <a:rPr dirty="0" err="1"/>
              <a:t>clara</a:t>
            </a:r>
            <a:r>
              <a:rPr dirty="0"/>
              <a:t> de </a:t>
            </a:r>
            <a:r>
              <a:rPr dirty="0" err="1"/>
              <a:t>trabalho</a:t>
            </a:r>
            <a:r>
              <a:rPr dirty="0"/>
              <a:t>. Posso </a:t>
            </a:r>
            <a:r>
              <a:rPr dirty="0" err="1"/>
              <a:t>conduzir</a:t>
            </a:r>
            <a:r>
              <a:rPr dirty="0"/>
              <a:t> o </a:t>
            </a:r>
            <a:r>
              <a:rPr dirty="0" err="1"/>
              <a:t>detalhamento</a:t>
            </a:r>
            <a:r>
              <a:rPr dirty="0"/>
              <a:t> do </a:t>
            </a:r>
            <a:r>
              <a:rPr dirty="0" err="1"/>
              <a:t>processo</a:t>
            </a:r>
            <a:r>
              <a:rPr dirty="0"/>
              <a:t> e dos </a:t>
            </a:r>
            <a:r>
              <a:rPr dirty="0" err="1"/>
              <a:t>critérios</a:t>
            </a:r>
            <a:r>
              <a:rPr dirty="0"/>
              <a:t> de </a:t>
            </a:r>
            <a:r>
              <a:rPr dirty="0" err="1"/>
              <a:t>aceite</a:t>
            </a:r>
            <a:r>
              <a:rPr dirty="0"/>
              <a:t>, </a:t>
            </a:r>
            <a:r>
              <a:rPr dirty="0" err="1"/>
              <a:t>enquanto</a:t>
            </a:r>
            <a:r>
              <a:rPr dirty="0"/>
              <a:t> </a:t>
            </a:r>
            <a:r>
              <a:rPr dirty="0" err="1"/>
              <a:t>você</a:t>
            </a:r>
            <a:r>
              <a:rPr dirty="0"/>
              <a:t> </a:t>
            </a:r>
            <a:r>
              <a:rPr dirty="0" err="1"/>
              <a:t>avalia</a:t>
            </a:r>
            <a:r>
              <a:rPr dirty="0"/>
              <a:t> as </a:t>
            </a:r>
            <a:r>
              <a:rPr dirty="0" err="1"/>
              <a:t>alternativas</a:t>
            </a:r>
            <a:r>
              <a:rPr dirty="0"/>
              <a:t> </a:t>
            </a:r>
            <a:r>
              <a:rPr dirty="0" err="1"/>
              <a:t>técnicas</a:t>
            </a:r>
            <a:r>
              <a:rPr dirty="0"/>
              <a:t> e as </a:t>
            </a:r>
            <a:r>
              <a:rPr dirty="0" err="1"/>
              <a:t>dependências</a:t>
            </a:r>
            <a:r>
              <a:rPr dirty="0"/>
              <a:t>. Essa </a:t>
            </a:r>
            <a:r>
              <a:rPr dirty="0" err="1"/>
              <a:t>divisão</a:t>
            </a:r>
            <a:r>
              <a:rPr dirty="0"/>
              <a:t> </a:t>
            </a:r>
            <a:r>
              <a:rPr dirty="0" err="1"/>
              <a:t>precisa</a:t>
            </a:r>
            <a:r>
              <a:rPr dirty="0"/>
              <a:t> ser </a:t>
            </a:r>
            <a:r>
              <a:rPr dirty="0" err="1"/>
              <a:t>alinhada</a:t>
            </a:r>
            <a:r>
              <a:rPr dirty="0"/>
              <a:t> com o time. </a:t>
            </a:r>
            <a:r>
              <a:rPr dirty="0" err="1"/>
              <a:t>Depois</a:t>
            </a:r>
            <a:r>
              <a:rPr dirty="0"/>
              <a:t>, </a:t>
            </a:r>
            <a:r>
              <a:rPr dirty="0" err="1"/>
              <a:t>revisamos</a:t>
            </a:r>
            <a:r>
              <a:rPr dirty="0"/>
              <a:t> um </a:t>
            </a:r>
            <a:r>
              <a:rPr dirty="0" err="1"/>
              <a:t>fluxo</a:t>
            </a:r>
            <a:r>
              <a:rPr dirty="0"/>
              <a:t> com </a:t>
            </a:r>
            <a:r>
              <a:rPr dirty="0" err="1"/>
              <a:t>telas</a:t>
            </a:r>
            <a:r>
              <a:rPr dirty="0"/>
              <a:t> e dados </a:t>
            </a:r>
            <a:r>
              <a:rPr dirty="0" err="1"/>
              <a:t>necessários</a:t>
            </a:r>
            <a:r>
              <a:rPr dirty="0"/>
              <a:t>. Antes de </a:t>
            </a:r>
            <a:r>
              <a:rPr dirty="0" err="1"/>
              <a:t>encerrar</a:t>
            </a:r>
            <a:r>
              <a:rPr dirty="0"/>
              <a:t>, </a:t>
            </a:r>
            <a:r>
              <a:rPr dirty="0" err="1"/>
              <a:t>vamos</a:t>
            </a:r>
            <a:r>
              <a:rPr dirty="0"/>
              <a:t> registrar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decidimos</a:t>
            </a:r>
            <a:r>
              <a:rPr dirty="0"/>
              <a:t>, as </a:t>
            </a:r>
            <a:r>
              <a:rPr dirty="0" err="1"/>
              <a:t>dúvidas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ficaram</a:t>
            </a:r>
            <a:r>
              <a:rPr dirty="0"/>
              <a:t> e quem </a:t>
            </a:r>
            <a:r>
              <a:rPr dirty="0" err="1"/>
              <a:t>traz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resposta</a:t>
            </a:r>
            <a:r>
              <a:rPr dirty="0"/>
              <a:t> para a </a:t>
            </a:r>
            <a:r>
              <a:rPr dirty="0" err="1"/>
              <a:t>próxima</a:t>
            </a:r>
            <a:r>
              <a:rPr dirty="0"/>
              <a:t> conversa.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16B6437-93AF-4475-8A68-52DD0B71D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BA8EEA9-F705-402B-ABEE-82A5F8608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FA1DC08-EBCF-49B4-9B77-B95408545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5A0B8D3-B084-4909-9844-FC2F73259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19DF2F7-23D4-4F68-AFED-569249A04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A6437C0-5A40-45A6-BE99-82716C958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B451624-21BA-4A86-A113-3DBCA68A2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FDE0145-D316-47C8-8FCA-FC68B99217D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027C362-2B62-48A1-B79D-996A9AE5B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64E8068-ECB6-4A8F-8F83-68A9D9A1D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DCC9DBB-BD7C-4396-8DB0-CB46E7E504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1F77D6-EDB4-44C1-8651-BF7E94C52BE5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202124"/>
                </a:solidFill>
              </a:defRPr>
            </a:defPPr>
          </a:lstStyle>
          <a:p>
            <a:pPr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LumiMining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54069E-8FCD-4F09-A14C-F7033C69ADC0}"/>
              </a:ext>
            </a:extLst>
          </p:cNvPr>
          <p:cNvSpPr>
            <a:spLocks noGrp="1"/>
          </p:cNvSpPr>
          <p:nvPr/>
        </p:nvSpPr>
        <p:spPr>
          <a:xfrm>
            <a:off x="9620250" y="1428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97586"/>
                </a:solidFill>
              </a:defRPr>
            </a:defPPr>
          </a:lstStyle>
          <a:p>
            <a:pPr>
              <a:defRPr sz="1275" b="0">
                <a:solidFill>
                  <a:srgbClr val="697586"/>
                </a:solidFill>
              </a:defRPr>
            </a:pPr>
            <a:r>
              <a:rPr sz="1275" b="0">
                <a:solidFill>
                  <a:srgbClr val="697586"/>
                </a:solidFill>
              </a:rPr>
              <a:t>Asset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FD2B15-41D6-4179-A614-3800CEB73A4B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2124"/>
                </a:solidFill>
              </a:defRPr>
            </a:defPPr>
          </a:lstStyle>
          <a:p>
            <a:pPr>
              <a:defRPr sz="3300" b="1">
                <a:solidFill>
                  <a:srgbClr val="202124"/>
                </a:solidFill>
              </a:defRPr>
            </a:pPr>
            <a:r>
              <a:rPr sz="3300" b="1">
                <a:solidFill>
                  <a:srgbClr val="202124"/>
                </a:solidFill>
              </a:rPr>
              <a:t>CMMS LumiMining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D6ADEC-D3B6-4DFB-A145-6C7D4FC0B412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1081087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97586"/>
                </a:solidFill>
              </a:defRPr>
            </a:defPPr>
          </a:lstStyle>
          <a:p>
            <a:pPr>
              <a:defRPr sz="1875" b="0">
                <a:solidFill>
                  <a:srgbClr val="697586"/>
                </a:solidFill>
              </a:defRPr>
            </a:pPr>
            <a:r>
              <a:rPr sz="1875" b="0" dirty="0" err="1">
                <a:solidFill>
                  <a:srgbClr val="697586"/>
                </a:solidFill>
              </a:rPr>
              <a:t>Visão</a:t>
            </a:r>
            <a:r>
              <a:rPr sz="1875" b="0" dirty="0">
                <a:solidFill>
                  <a:srgbClr val="697586"/>
                </a:solidFill>
              </a:rPr>
              <a:t> do </a:t>
            </a:r>
            <a:r>
              <a:rPr sz="1875" b="0" dirty="0" err="1">
                <a:solidFill>
                  <a:srgbClr val="697586"/>
                </a:solidFill>
              </a:rPr>
              <a:t>produto</a:t>
            </a:r>
            <a:r>
              <a:rPr sz="1875" b="0" dirty="0">
                <a:solidFill>
                  <a:srgbClr val="697586"/>
                </a:solidFill>
              </a:rPr>
              <a:t> e </a:t>
            </a:r>
            <a:r>
              <a:rPr sz="1875" b="0" dirty="0" err="1">
                <a:solidFill>
                  <a:srgbClr val="697586"/>
                </a:solidFill>
              </a:rPr>
              <a:t>estrutura</a:t>
            </a:r>
            <a:r>
              <a:rPr sz="1875" b="0" dirty="0">
                <a:solidFill>
                  <a:srgbClr val="697586"/>
                </a:solidFill>
              </a:rPr>
              <a:t> </a:t>
            </a:r>
            <a:r>
              <a:rPr sz="1875" b="0" dirty="0" err="1">
                <a:solidFill>
                  <a:srgbClr val="697586"/>
                </a:solidFill>
              </a:rPr>
              <a:t>funcional</a:t>
            </a:r>
            <a:endParaRPr sz="1875" b="0" dirty="0">
              <a:solidFill>
                <a:srgbClr val="697586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F55D81-788D-4ED4-9DFF-EB9A4893BC19}"/>
              </a:ext>
            </a:extLst>
          </p:cNvPr>
          <p:cNvSpPr>
            <a:spLocks noGrp="1"/>
          </p:cNvSpPr>
          <p:nvPr/>
        </p:nvSpPr>
        <p:spPr>
          <a:xfrm>
            <a:off x="666750" y="63531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97586"/>
                </a:solidFill>
              </a:defRPr>
            </a:defPPr>
          </a:lstStyle>
          <a:p>
            <a:pPr>
              <a:defRPr sz="1200" b="0">
                <a:solidFill>
                  <a:srgbClr val="697586"/>
                </a:solidFill>
              </a:defRPr>
            </a:pPr>
            <a:r>
              <a:rPr sz="1200" b="0">
                <a:solidFill>
                  <a:srgbClr val="697586"/>
                </a:solidFill>
              </a:rPr>
              <a:t>LumiMining · Estrutura CMMS · 15 outubro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2C4C5B-4A01-4A00-8420-BCA1BFD5A557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0866EF"/>
                </a:solidFill>
              </a:defRPr>
            </a:defPPr>
          </a:lstStyle>
          <a:p>
            <a:pPr>
              <a:defRPr sz="1350" b="1">
                <a:solidFill>
                  <a:srgbClr val="0866EF"/>
                </a:solidFill>
              </a:defRPr>
            </a:pPr>
            <a:r>
              <a:rPr sz="1350" b="1">
                <a:solidFill>
                  <a:srgbClr val="0866EF"/>
                </a:solidFill>
              </a:rPr>
              <a:t>01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F73530-148F-4F05-8B71-C37BA2DD3D61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11049000" cy="333375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CE20CD-B801-46F4-AF04-86DBB0AFB7BF}"/>
              </a:ext>
            </a:extLst>
          </p:cNvPr>
          <p:cNvSpPr>
            <a:spLocks noGrp="1"/>
          </p:cNvSpPr>
          <p:nvPr/>
        </p:nvSpPr>
        <p:spPr>
          <a:xfrm>
            <a:off x="762000" y="2952750"/>
            <a:ext cx="10382250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202124"/>
                </a:solidFill>
              </a:defRPr>
            </a:defPPr>
          </a:lstStyle>
          <a:p>
            <a:pPr>
              <a:defRPr sz="3600" b="1">
                <a:solidFill>
                  <a:srgbClr val="202124"/>
                </a:solidFill>
              </a:defRPr>
            </a:pPr>
            <a:r>
              <a:rPr sz="3600" b="1">
                <a:solidFill>
                  <a:srgbClr val="202124"/>
                </a:solidFill>
              </a:rPr>
              <a:t>Estrutura de manutenção e gestão de ativos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DA9A3C-F835-4CFA-B953-23FD5C441FD4}"/>
              </a:ext>
            </a:extLst>
          </p:cNvPr>
          <p:cNvSpPr>
            <a:spLocks noGrp="1"/>
          </p:cNvSpPr>
          <p:nvPr/>
        </p:nvSpPr>
        <p:spPr>
          <a:xfrm>
            <a:off x="762000" y="4905375"/>
            <a:ext cx="1000125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697586"/>
                </a:solidFill>
              </a:defRPr>
            </a:defPPr>
          </a:lstStyle>
          <a:p>
            <a:pPr>
              <a:defRPr sz="2100" b="0">
                <a:solidFill>
                  <a:srgbClr val="697586"/>
                </a:solidFill>
              </a:defRPr>
            </a:pPr>
            <a:r>
              <a:rPr sz="2100" b="0">
                <a:solidFill>
                  <a:srgbClr val="697586"/>
                </a:solidFill>
              </a:rPr>
              <a:t>Hallen Neris e Wilton Polesca</a:t>
            </a:r>
          </a:p>
          <a:p>
            <a:pPr>
              <a:defRPr sz="2100" b="0">
                <a:solidFill>
                  <a:srgbClr val="697586"/>
                </a:solidFill>
              </a:defRPr>
            </a:pPr>
            <a:r>
              <a:rPr sz="2100" b="0">
                <a:solidFill>
                  <a:srgbClr val="697586"/>
                </a:solidFill>
              </a:rPr>
              <a:t>Proposta de produto para discussão</a:t>
            </a:r>
          </a:p>
        </p:txBody>
      </p:sp>
    </p:spTree>
    <p:extLst>
      <p:ext uri="{BB962C8B-B14F-4D97-AF65-F5344CB8AC3E}">
        <p14:creationId xmlns:p14="http://schemas.microsoft.com/office/powerpoint/2010/main" val="867421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D97F4BD-52FB-4F27-A965-6C30846A3F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CFE658-AE7B-4E26-BB26-B6826D0F094B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202124"/>
                </a:solidFill>
              </a:defRPr>
            </a:defPPr>
          </a:lstStyle>
          <a:p>
            <a:pPr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LumiMining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B89D2F-82E7-4F9E-92D7-7296F8916E5D}"/>
              </a:ext>
            </a:extLst>
          </p:cNvPr>
          <p:cNvSpPr>
            <a:spLocks noGrp="1"/>
          </p:cNvSpPr>
          <p:nvPr/>
        </p:nvSpPr>
        <p:spPr>
          <a:xfrm>
            <a:off x="9620250" y="1428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97586"/>
                </a:solidFill>
              </a:defRPr>
            </a:defPPr>
          </a:lstStyle>
          <a:p>
            <a:pPr>
              <a:defRPr sz="1275" b="0">
                <a:solidFill>
                  <a:srgbClr val="697586"/>
                </a:solidFill>
              </a:defRPr>
            </a:pPr>
            <a:r>
              <a:rPr sz="1275" b="0">
                <a:solidFill>
                  <a:srgbClr val="697586"/>
                </a:solidFill>
              </a:rPr>
              <a:t>Asset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F970CB-4821-4C3B-8691-F049AAD72452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2124"/>
                </a:solidFill>
              </a:defRPr>
            </a:defPPr>
          </a:lstStyle>
          <a:p>
            <a:pPr>
              <a:defRPr sz="3300" b="1">
                <a:solidFill>
                  <a:srgbClr val="202124"/>
                </a:solidFill>
              </a:defRPr>
            </a:pPr>
            <a:r>
              <a:rPr sz="3300" b="1">
                <a:solidFill>
                  <a:srgbClr val="202124"/>
                </a:solidFill>
              </a:rPr>
              <a:t>Visão e resultado esperado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180EF0-FA1F-4212-B982-DF3EC2B9D6FE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1081087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97586"/>
                </a:solidFill>
              </a:defRPr>
            </a:defPPr>
          </a:lstStyle>
          <a:p>
            <a:pPr>
              <a:defRPr sz="1875" b="0">
                <a:solidFill>
                  <a:srgbClr val="697586"/>
                </a:solidFill>
              </a:defRPr>
            </a:pPr>
            <a:r>
              <a:rPr sz="1875" b="0">
                <a:solidFill>
                  <a:srgbClr val="697586"/>
                </a:solidFill>
              </a:rPr>
              <a:t>Uma solução para acompanhar a manutenção e a evolução do ativo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8D38A3-349A-4CEF-8F72-BE51857A60B0}"/>
              </a:ext>
            </a:extLst>
          </p:cNvPr>
          <p:cNvSpPr>
            <a:spLocks noGrp="1"/>
          </p:cNvSpPr>
          <p:nvPr/>
        </p:nvSpPr>
        <p:spPr>
          <a:xfrm>
            <a:off x="666750" y="63531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97586"/>
                </a:solidFill>
              </a:defRPr>
            </a:defPPr>
          </a:lstStyle>
          <a:p>
            <a:pPr>
              <a:defRPr sz="1200" b="0">
                <a:solidFill>
                  <a:srgbClr val="697586"/>
                </a:solidFill>
              </a:defRPr>
            </a:pPr>
            <a:r>
              <a:rPr sz="1200" b="0">
                <a:solidFill>
                  <a:srgbClr val="697586"/>
                </a:solidFill>
              </a:rPr>
              <a:t>LumiMining · Estrutura CMMS · 15 outubro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F53BBA-ABDF-47E1-A9EF-2C364DEDFBF1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0866EF"/>
                </a:solidFill>
              </a:defRPr>
            </a:defPPr>
          </a:lstStyle>
          <a:p>
            <a:pPr>
              <a:defRPr sz="1350" b="1">
                <a:solidFill>
                  <a:srgbClr val="0866EF"/>
                </a:solidFill>
              </a:defRPr>
            </a:pPr>
            <a:r>
              <a:rPr sz="1350" b="1">
                <a:solidFill>
                  <a:srgbClr val="0866EF"/>
                </a:solidFill>
              </a:rPr>
              <a:t>02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2468B7F-3A00-42ED-A66D-74AA7072B46A}"/>
              </a:ext>
            </a:extLst>
          </p:cNvPr>
          <p:cNvSpPr>
            <a:spLocks noGrp="1"/>
          </p:cNvSpPr>
          <p:nvPr/>
        </p:nvSpPr>
        <p:spPr>
          <a:xfrm>
            <a:off x="57150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2CCE98-9A0E-41CD-AD3F-5D2AEE103162}"/>
              </a:ext>
            </a:extLst>
          </p:cNvPr>
          <p:cNvSpPr>
            <a:spLocks noGrp="1"/>
          </p:cNvSpPr>
          <p:nvPr/>
        </p:nvSpPr>
        <p:spPr>
          <a:xfrm>
            <a:off x="80010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Usuários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2568C-B033-4DE4-87E3-BA160AD309B8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Inspetor, planejador, supervisor, técnico e engenheiro de confiabilidade.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2D4B33B-C425-412D-88DB-9723E628C7FD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1C6FC3-EE16-4F53-AD35-2EFD007F7055}"/>
              </a:ext>
            </a:extLst>
          </p:cNvPr>
          <p:cNvSpPr>
            <a:spLocks noGrp="1"/>
          </p:cNvSpPr>
          <p:nvPr/>
        </p:nvSpPr>
        <p:spPr>
          <a:xfrm>
            <a:off x="641985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Rotina de manutenção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E5E87A-77B0-4265-BAD5-E96EE160E677}"/>
              </a:ext>
            </a:extLst>
          </p:cNvPr>
          <p:cNvSpPr>
            <a:spLocks noGrp="1"/>
          </p:cNvSpPr>
          <p:nvPr/>
        </p:nvSpPr>
        <p:spPr>
          <a:xfrm>
            <a:off x="641985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Identificar a necessidade, priorizar, planejar, executar e verificar o resultado.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5B4A49A-2FE4-4C58-93E2-2B7FAB9D1BFF}"/>
              </a:ext>
            </a:extLst>
          </p:cNvPr>
          <p:cNvSpPr>
            <a:spLocks noGrp="1"/>
          </p:cNvSpPr>
          <p:nvPr/>
        </p:nvSpPr>
        <p:spPr>
          <a:xfrm>
            <a:off x="57150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9712D5-70CD-4761-BD99-95AA9DC5B0E4}"/>
              </a:ext>
            </a:extLst>
          </p:cNvPr>
          <p:cNvSpPr>
            <a:spLocks noGrp="1"/>
          </p:cNvSpPr>
          <p:nvPr/>
        </p:nvSpPr>
        <p:spPr>
          <a:xfrm>
            <a:off x="80010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Gestão do ativo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2ED7AC-EEFA-4E17-9936-3133AB307BA2}"/>
              </a:ext>
            </a:extLst>
          </p:cNvPr>
          <p:cNvSpPr>
            <a:spLocks noGrp="1"/>
          </p:cNvSpPr>
          <p:nvPr/>
        </p:nvSpPr>
        <p:spPr>
          <a:xfrm>
            <a:off x="80010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Histórico de componentes, custos e desempenho para apoiar decisões.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EEA7B3-45D8-4C62-973B-8673A356006B}"/>
              </a:ext>
            </a:extLst>
          </p:cNvPr>
          <p:cNvSpPr>
            <a:spLocks noGrp="1"/>
          </p:cNvSpPr>
          <p:nvPr/>
        </p:nvSpPr>
        <p:spPr>
          <a:xfrm>
            <a:off x="619125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CD051B-E048-4B9B-B744-DE26F4065C89}"/>
              </a:ext>
            </a:extLst>
          </p:cNvPr>
          <p:cNvSpPr>
            <a:spLocks noGrp="1"/>
          </p:cNvSpPr>
          <p:nvPr/>
        </p:nvSpPr>
        <p:spPr>
          <a:xfrm>
            <a:off x="641985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Direção comercial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F1DCB-F2BA-45AA-A50F-7AB72721FE0E}"/>
              </a:ext>
            </a:extLst>
          </p:cNvPr>
          <p:cNvSpPr>
            <a:spLocks noGrp="1"/>
          </p:cNvSpPr>
          <p:nvPr/>
        </p:nvSpPr>
        <p:spPr>
          <a:xfrm>
            <a:off x="641985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Produto configurável para mineração, com integrações conforme o cliente.</a:t>
            </a:r>
          </a:p>
        </p:txBody>
      </p:sp>
    </p:spTree>
    <p:extLst>
      <p:ext uri="{BB962C8B-B14F-4D97-AF65-F5344CB8AC3E}">
        <p14:creationId xmlns:p14="http://schemas.microsoft.com/office/powerpoint/2010/main" val="1233734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291B7C7-56E8-48C5-9E01-9213F99355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EADE57-A707-4262-AD56-6555917ABFD0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202124"/>
                </a:solidFill>
              </a:defRPr>
            </a:defPPr>
          </a:lstStyle>
          <a:p>
            <a:pPr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LumiMining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85B964-EB94-432D-9C58-F3142B9ED9DC}"/>
              </a:ext>
            </a:extLst>
          </p:cNvPr>
          <p:cNvSpPr>
            <a:spLocks noGrp="1"/>
          </p:cNvSpPr>
          <p:nvPr/>
        </p:nvSpPr>
        <p:spPr>
          <a:xfrm>
            <a:off x="9620250" y="1428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97586"/>
                </a:solidFill>
              </a:defRPr>
            </a:defPPr>
          </a:lstStyle>
          <a:p>
            <a:pPr>
              <a:defRPr sz="1275" b="0">
                <a:solidFill>
                  <a:srgbClr val="697586"/>
                </a:solidFill>
              </a:defRPr>
            </a:pPr>
            <a:r>
              <a:rPr sz="1275" b="0">
                <a:solidFill>
                  <a:srgbClr val="697586"/>
                </a:solidFill>
              </a:rPr>
              <a:t>Asset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4595D3-B204-4DFA-876F-E0E8096C3F79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2124"/>
                </a:solidFill>
              </a:defRPr>
            </a:defPPr>
          </a:lstStyle>
          <a:p>
            <a:pPr>
              <a:defRPr sz="3300" b="1">
                <a:solidFill>
                  <a:srgbClr val="202124"/>
                </a:solidFill>
              </a:defRPr>
            </a:pPr>
            <a:r>
              <a:rPr sz="3300" b="1">
                <a:solidFill>
                  <a:srgbClr val="202124"/>
                </a:solidFill>
              </a:rPr>
              <a:t>Estrutura funcional de referência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ED77C0-983F-47DA-ADF6-4C3116E75E75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1081087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97586"/>
                </a:solidFill>
              </a:defRPr>
            </a:defPPr>
          </a:lstStyle>
          <a:p>
            <a:pPr>
              <a:defRPr sz="1875" b="0">
                <a:solidFill>
                  <a:srgbClr val="697586"/>
                </a:solidFill>
              </a:defRPr>
            </a:pPr>
            <a:r>
              <a:rPr sz="1875" b="0">
                <a:solidFill>
                  <a:srgbClr val="697586"/>
                </a:solidFill>
              </a:rPr>
              <a:t>As telas do AMT abrangem a operação diária e a gestão de longo prazo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45B20-C04B-4201-96AF-2A2406E8C552}"/>
              </a:ext>
            </a:extLst>
          </p:cNvPr>
          <p:cNvSpPr>
            <a:spLocks noGrp="1"/>
          </p:cNvSpPr>
          <p:nvPr/>
        </p:nvSpPr>
        <p:spPr>
          <a:xfrm>
            <a:off x="666750" y="63531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97586"/>
                </a:solidFill>
              </a:defRPr>
            </a:defPPr>
          </a:lstStyle>
          <a:p>
            <a:pPr>
              <a:defRPr sz="1200" b="0">
                <a:solidFill>
                  <a:srgbClr val="697586"/>
                </a:solidFill>
              </a:defRPr>
            </a:pPr>
            <a:r>
              <a:rPr sz="1200" b="0">
                <a:solidFill>
                  <a:srgbClr val="697586"/>
                </a:solidFill>
              </a:rPr>
              <a:t>LumiMining · Estrutura CMMS · 15 outubro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04F7B3-9E66-4966-9FA9-9862E5B33E49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0866EF"/>
                </a:solidFill>
              </a:defRPr>
            </a:defPPr>
          </a:lstStyle>
          <a:p>
            <a:pPr>
              <a:defRPr sz="1350" b="1">
                <a:solidFill>
                  <a:srgbClr val="0866EF"/>
                </a:solidFill>
              </a:defRPr>
            </a:pPr>
            <a:r>
              <a:rPr sz="1350" b="1">
                <a:solidFill>
                  <a:srgbClr val="0866EF"/>
                </a:solidFill>
              </a:rPr>
              <a:t>03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13D5DC-0CD6-4A65-8978-47E0B397EBC9}"/>
              </a:ext>
            </a:extLst>
          </p:cNvPr>
          <p:cNvSpPr>
            <a:spLocks noGrp="1"/>
          </p:cNvSpPr>
          <p:nvPr/>
        </p:nvSpPr>
        <p:spPr>
          <a:xfrm>
            <a:off x="57150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F80E47-DCA3-4E5C-810E-61A38F82622F}"/>
              </a:ext>
            </a:extLst>
          </p:cNvPr>
          <p:cNvSpPr>
            <a:spLocks noGrp="1"/>
          </p:cNvSpPr>
          <p:nvPr/>
        </p:nvSpPr>
        <p:spPr>
          <a:xfrm>
            <a:off x="80010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Base e conhecimento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993CED-E1AB-4473-8FE0-EC6589B26F60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System Administration, Setup &amp; Admin, Knowledge Database e Centrelines.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7E957DB-A551-431F-ACCF-8D664E62CA71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9FD6E7-CF90-4494-AA99-3C351271FAA5}"/>
              </a:ext>
            </a:extLst>
          </p:cNvPr>
          <p:cNvSpPr>
            <a:spLocks noGrp="1"/>
          </p:cNvSpPr>
          <p:nvPr/>
        </p:nvSpPr>
        <p:spPr>
          <a:xfrm>
            <a:off x="641985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Rotina e planejamento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7807BC-E8FD-4FD8-B20C-DB15D500B1A9}"/>
              </a:ext>
            </a:extLst>
          </p:cNvPr>
          <p:cNvSpPr>
            <a:spLocks noGrp="1"/>
          </p:cNvSpPr>
          <p:nvPr/>
        </p:nvSpPr>
        <p:spPr>
          <a:xfrm>
            <a:off x="641985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Daily Operations, Daily Planning e Long-term Planning.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F0C254E-2267-44BF-A886-22CE92DD8D91}"/>
              </a:ext>
            </a:extLst>
          </p:cNvPr>
          <p:cNvSpPr>
            <a:spLocks noGrp="1"/>
          </p:cNvSpPr>
          <p:nvPr/>
        </p:nvSpPr>
        <p:spPr>
          <a:xfrm>
            <a:off x="57150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35918F-ACC5-485A-8578-441E29BC695F}"/>
              </a:ext>
            </a:extLst>
          </p:cNvPr>
          <p:cNvSpPr>
            <a:spLocks noGrp="1"/>
          </p:cNvSpPr>
          <p:nvPr/>
        </p:nvSpPr>
        <p:spPr>
          <a:xfrm>
            <a:off x="80010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Análise e estratégia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0E81D7-2BEC-4762-92B5-651346262641}"/>
              </a:ext>
            </a:extLst>
          </p:cNvPr>
          <p:cNvSpPr>
            <a:spLocks noGrp="1"/>
          </p:cNvSpPr>
          <p:nvPr/>
        </p:nvSpPr>
        <p:spPr>
          <a:xfrm>
            <a:off x="80010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Reporting &amp; Analyses, Strategy Optimisation e Budgeting &amp; Forecasting.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984E525-BBDA-484E-9A4C-F995FB0F8E5D}"/>
              </a:ext>
            </a:extLst>
          </p:cNvPr>
          <p:cNvSpPr>
            <a:spLocks noGrp="1"/>
          </p:cNvSpPr>
          <p:nvPr/>
        </p:nvSpPr>
        <p:spPr>
          <a:xfrm>
            <a:off x="619125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A7DA9C-6053-4240-974F-47756752F5DE}"/>
              </a:ext>
            </a:extLst>
          </p:cNvPr>
          <p:cNvSpPr>
            <a:spLocks noGrp="1"/>
          </p:cNvSpPr>
          <p:nvPr/>
        </p:nvSpPr>
        <p:spPr>
          <a:xfrm>
            <a:off x="641985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Áreas especializadas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718DE8-43F6-467B-BD7D-1CA45C9F384E}"/>
              </a:ext>
            </a:extLst>
          </p:cNvPr>
          <p:cNvSpPr>
            <a:spLocks noGrp="1"/>
          </p:cNvSpPr>
          <p:nvPr/>
        </p:nvSpPr>
        <p:spPr>
          <a:xfrm>
            <a:off x="641985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Modelling, MARC, AMT IC, Plant Hire, Core Tracker, PSM e STO.</a:t>
            </a:r>
          </a:p>
        </p:txBody>
      </p:sp>
    </p:spTree>
    <p:extLst>
      <p:ext uri="{BB962C8B-B14F-4D97-AF65-F5344CB8AC3E}">
        <p14:creationId xmlns:p14="http://schemas.microsoft.com/office/powerpoint/2010/main" val="1239979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02C926B-1462-4C2F-93E2-92DFD11BAC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57E679-E675-4C8C-B97B-AD59E2F1D66C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202124"/>
                </a:solidFill>
              </a:defRPr>
            </a:defPPr>
          </a:lstStyle>
          <a:p>
            <a:pPr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LumiMining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4120D9-D0FA-419F-9DD2-38048DA4DC4E}"/>
              </a:ext>
            </a:extLst>
          </p:cNvPr>
          <p:cNvSpPr>
            <a:spLocks noGrp="1"/>
          </p:cNvSpPr>
          <p:nvPr/>
        </p:nvSpPr>
        <p:spPr>
          <a:xfrm>
            <a:off x="9620250" y="1428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97586"/>
                </a:solidFill>
              </a:defRPr>
            </a:defPPr>
          </a:lstStyle>
          <a:p>
            <a:pPr>
              <a:defRPr sz="1275" b="0">
                <a:solidFill>
                  <a:srgbClr val="697586"/>
                </a:solidFill>
              </a:defRPr>
            </a:pPr>
            <a:r>
              <a:rPr sz="1275" b="0">
                <a:solidFill>
                  <a:srgbClr val="697586"/>
                </a:solidFill>
              </a:rPr>
              <a:t>Asset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72886B-BE16-4CF1-B7F5-502868754A14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2124"/>
                </a:solidFill>
              </a:defRPr>
            </a:defPPr>
          </a:lstStyle>
          <a:p>
            <a:pPr>
              <a:defRPr sz="3300" b="1">
                <a:solidFill>
                  <a:srgbClr val="202124"/>
                </a:solidFill>
              </a:defRPr>
            </a:pPr>
            <a:r>
              <a:rPr sz="3300" b="1">
                <a:solidFill>
                  <a:srgbClr val="202124"/>
                </a:solidFill>
              </a:rPr>
              <a:t>Ativos, componentes e dados mestres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067095-AF97-4751-9013-A2DEC91DCF6D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1081087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97586"/>
                </a:solidFill>
              </a:defRPr>
            </a:defPPr>
          </a:lstStyle>
          <a:p>
            <a:pPr>
              <a:defRPr sz="1875" b="0">
                <a:solidFill>
                  <a:srgbClr val="697586"/>
                </a:solidFill>
              </a:defRPr>
            </a:pPr>
            <a:r>
              <a:rPr sz="1875" b="0">
                <a:solidFill>
                  <a:srgbClr val="697586"/>
                </a:solidFill>
              </a:rPr>
              <a:t>Fundação proposta para manter o histórico ao longo da vida do equipamento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D63E0E-36DE-4D3D-9880-85D6DCBF583B}"/>
              </a:ext>
            </a:extLst>
          </p:cNvPr>
          <p:cNvSpPr>
            <a:spLocks noGrp="1"/>
          </p:cNvSpPr>
          <p:nvPr/>
        </p:nvSpPr>
        <p:spPr>
          <a:xfrm>
            <a:off x="666750" y="63531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97586"/>
                </a:solidFill>
              </a:defRPr>
            </a:defPPr>
          </a:lstStyle>
          <a:p>
            <a:pPr>
              <a:defRPr sz="1200" b="0">
                <a:solidFill>
                  <a:srgbClr val="697586"/>
                </a:solidFill>
              </a:defRPr>
            </a:pPr>
            <a:r>
              <a:rPr sz="1200" b="0">
                <a:solidFill>
                  <a:srgbClr val="697586"/>
                </a:solidFill>
              </a:rPr>
              <a:t>LumiMining · Estrutura CMMS · 15 outubro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3B22C5-2A71-40E1-AF06-671E08EFAA58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0866EF"/>
                </a:solidFill>
              </a:defRPr>
            </a:defPPr>
          </a:lstStyle>
          <a:p>
            <a:pPr>
              <a:defRPr sz="1350" b="1">
                <a:solidFill>
                  <a:srgbClr val="0866EF"/>
                </a:solidFill>
              </a:defRPr>
            </a:pPr>
            <a:r>
              <a:rPr sz="1350" b="1">
                <a:solidFill>
                  <a:srgbClr val="0866EF"/>
                </a:solidFill>
              </a:rPr>
              <a:t>04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472540-1FC9-4D6F-BAB6-761B94A4E397}"/>
              </a:ext>
            </a:extLst>
          </p:cNvPr>
          <p:cNvSpPr>
            <a:spLocks noGrp="1"/>
          </p:cNvSpPr>
          <p:nvPr/>
        </p:nvSpPr>
        <p:spPr>
          <a:xfrm>
            <a:off x="571500" y="25050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2879CE-9CED-405E-9327-9447554D3E0A}"/>
              </a:ext>
            </a:extLst>
          </p:cNvPr>
          <p:cNvSpPr>
            <a:spLocks noGrp="1"/>
          </p:cNvSpPr>
          <p:nvPr/>
        </p:nvSpPr>
        <p:spPr>
          <a:xfrm>
            <a:off x="762000" y="26003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866EF"/>
                </a:solidFill>
              </a:defRPr>
            </a:defPPr>
          </a:lstStyle>
          <a:p>
            <a:pPr>
              <a:defRPr sz="1950" b="1">
                <a:solidFill>
                  <a:srgbClr val="0866EF"/>
                </a:solidFill>
              </a:defRPr>
            </a:pPr>
            <a:r>
              <a:rPr sz="1950" b="1">
                <a:solidFill>
                  <a:srgbClr val="0866EF"/>
                </a:solidFill>
              </a:rPr>
              <a:t>Estrutura organizacional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659087-CFE5-4BA9-9720-EDB8DEDC0043}"/>
              </a:ext>
            </a:extLst>
          </p:cNvPr>
          <p:cNvSpPr>
            <a:spLocks noGrp="1"/>
          </p:cNvSpPr>
          <p:nvPr/>
        </p:nvSpPr>
        <p:spPr>
          <a:xfrm>
            <a:off x="3810000" y="2600325"/>
            <a:ext cx="7572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Empresa, site, localização, frota e equipamento, com hierarquias configuráveis.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649E09E-F00D-4DE4-85AF-9FBFDF7913B6}"/>
              </a:ext>
            </a:extLst>
          </p:cNvPr>
          <p:cNvSpPr>
            <a:spLocks noGrp="1"/>
          </p:cNvSpPr>
          <p:nvPr/>
        </p:nvSpPr>
        <p:spPr>
          <a:xfrm>
            <a:off x="571500" y="33432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F81549-3B29-4F6F-9EF7-E3F1C453F23D}"/>
              </a:ext>
            </a:extLst>
          </p:cNvPr>
          <p:cNvSpPr>
            <a:spLocks noGrp="1"/>
          </p:cNvSpPr>
          <p:nvPr/>
        </p:nvSpPr>
        <p:spPr>
          <a:xfrm>
            <a:off x="762000" y="34385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866EF"/>
                </a:solidFill>
              </a:defRPr>
            </a:defPPr>
          </a:lstStyle>
          <a:p>
            <a:pPr>
              <a:defRPr sz="1950" b="1">
                <a:solidFill>
                  <a:srgbClr val="0866EF"/>
                </a:solidFill>
              </a:defRPr>
            </a:pPr>
            <a:r>
              <a:rPr sz="1950" b="1">
                <a:solidFill>
                  <a:srgbClr val="0866EF"/>
                </a:solidFill>
              </a:rPr>
              <a:t>Cadastro técnico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517DA9-A794-4A0D-ADEC-18B4BE22760B}"/>
              </a:ext>
            </a:extLst>
          </p:cNvPr>
          <p:cNvSpPr>
            <a:spLocks noGrp="1"/>
          </p:cNvSpPr>
          <p:nvPr/>
        </p:nvSpPr>
        <p:spPr>
          <a:xfrm>
            <a:off x="3810000" y="3438525"/>
            <a:ext cx="7572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Fabricante, modelo, classe, criticidade, sistemas e componentes.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6A2A16-42E9-441C-85B9-7376E7BD52F0}"/>
              </a:ext>
            </a:extLst>
          </p:cNvPr>
          <p:cNvSpPr>
            <a:spLocks noGrp="1"/>
          </p:cNvSpPr>
          <p:nvPr/>
        </p:nvSpPr>
        <p:spPr>
          <a:xfrm>
            <a:off x="571500" y="41814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5927B3-B42A-4452-BA5F-260038116EF1}"/>
              </a:ext>
            </a:extLst>
          </p:cNvPr>
          <p:cNvSpPr>
            <a:spLocks noGrp="1"/>
          </p:cNvSpPr>
          <p:nvPr/>
        </p:nvSpPr>
        <p:spPr>
          <a:xfrm>
            <a:off x="762000" y="42767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866EF"/>
                </a:solidFill>
              </a:defRPr>
            </a:defPPr>
          </a:lstStyle>
          <a:p>
            <a:pPr>
              <a:defRPr sz="1950" b="1">
                <a:solidFill>
                  <a:srgbClr val="0866EF"/>
                </a:solidFill>
              </a:defRPr>
            </a:pPr>
            <a:r>
              <a:rPr sz="1950" b="1">
                <a:solidFill>
                  <a:srgbClr val="0866EF"/>
                </a:solidFill>
              </a:rPr>
              <a:t>Componentes serializados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72DB03-34A1-46FA-A8F7-AD1F7CFFDB30}"/>
              </a:ext>
            </a:extLst>
          </p:cNvPr>
          <p:cNvSpPr>
            <a:spLocks noGrp="1"/>
          </p:cNvSpPr>
          <p:nvPr/>
        </p:nvSpPr>
        <p:spPr>
          <a:xfrm>
            <a:off x="3810000" y="4276725"/>
            <a:ext cx="7572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Identidade própria e histórico de instalação, remoção e recuperação.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DBEA9BC-D915-4952-889A-A31ACC6D31F1}"/>
              </a:ext>
            </a:extLst>
          </p:cNvPr>
          <p:cNvSpPr>
            <a:spLocks noGrp="1"/>
          </p:cNvSpPr>
          <p:nvPr/>
        </p:nvSpPr>
        <p:spPr>
          <a:xfrm>
            <a:off x="571500" y="50196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5DEF1D-CCC2-46C3-B7A4-A55629503794}"/>
              </a:ext>
            </a:extLst>
          </p:cNvPr>
          <p:cNvSpPr>
            <a:spLocks noGrp="1"/>
          </p:cNvSpPr>
          <p:nvPr/>
        </p:nvSpPr>
        <p:spPr>
          <a:xfrm>
            <a:off x="762000" y="51149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866EF"/>
                </a:solidFill>
              </a:defRPr>
            </a:defPPr>
          </a:lstStyle>
          <a:p>
            <a:pPr>
              <a:defRPr sz="1950" b="1">
                <a:solidFill>
                  <a:srgbClr val="0866EF"/>
                </a:solidFill>
              </a:defRPr>
            </a:pPr>
            <a:r>
              <a:rPr sz="1950" b="1">
                <a:solidFill>
                  <a:srgbClr val="0866EF"/>
                </a:solidFill>
              </a:rPr>
              <a:t>Governança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DE94B1-5143-4DDE-9803-7C298553D637}"/>
              </a:ext>
            </a:extLst>
          </p:cNvPr>
          <p:cNvSpPr>
            <a:spLocks noGrp="1"/>
          </p:cNvSpPr>
          <p:nvPr/>
        </p:nvSpPr>
        <p:spPr>
          <a:xfrm>
            <a:off x="3810000" y="5114925"/>
            <a:ext cx="7572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Unidades, códigos de falha, perfis de acesso, auditoria e validação de dados.</a:t>
            </a:r>
          </a:p>
        </p:txBody>
      </p:sp>
    </p:spTree>
    <p:extLst>
      <p:ext uri="{BB962C8B-B14F-4D97-AF65-F5344CB8AC3E}">
        <p14:creationId xmlns:p14="http://schemas.microsoft.com/office/powerpoint/2010/main" val="1894128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135DFF9-7C22-4A5D-9044-C18A5246A3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AFA787-3F76-488C-8890-28C6164F3E59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202124"/>
                </a:solidFill>
              </a:defRPr>
            </a:defPPr>
          </a:lstStyle>
          <a:p>
            <a:pPr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LumiMining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AFE111-0309-4807-995B-D77A155B953F}"/>
              </a:ext>
            </a:extLst>
          </p:cNvPr>
          <p:cNvSpPr>
            <a:spLocks noGrp="1"/>
          </p:cNvSpPr>
          <p:nvPr/>
        </p:nvSpPr>
        <p:spPr>
          <a:xfrm>
            <a:off x="9620250" y="1428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97586"/>
                </a:solidFill>
              </a:defRPr>
            </a:defPPr>
          </a:lstStyle>
          <a:p>
            <a:pPr>
              <a:defRPr sz="1275" b="0">
                <a:solidFill>
                  <a:srgbClr val="697586"/>
                </a:solidFill>
              </a:defRPr>
            </a:pPr>
            <a:r>
              <a:rPr sz="1275" b="0">
                <a:solidFill>
                  <a:srgbClr val="697586"/>
                </a:solidFill>
              </a:rPr>
              <a:t>Asset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A07342-5F93-4444-9177-1F69541A55F5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2124"/>
                </a:solidFill>
              </a:defRPr>
            </a:defPPr>
          </a:lstStyle>
          <a:p>
            <a:pPr>
              <a:defRPr sz="3300" b="1">
                <a:solidFill>
                  <a:srgbClr val="202124"/>
                </a:solidFill>
              </a:defRPr>
            </a:pPr>
            <a:r>
              <a:rPr sz="3300" b="1">
                <a:solidFill>
                  <a:srgbClr val="202124"/>
                </a:solidFill>
              </a:rPr>
              <a:t>Biblioteca e estratégia de manutenção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772D70-AC1A-4B52-A4FD-DFFA3BDF0702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1081087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97586"/>
                </a:solidFill>
              </a:defRPr>
            </a:defPPr>
          </a:lstStyle>
          <a:p>
            <a:pPr>
              <a:defRPr sz="1875" b="0">
                <a:solidFill>
                  <a:srgbClr val="697586"/>
                </a:solidFill>
              </a:defRPr>
            </a:pPr>
            <a:r>
              <a:rPr sz="1875" b="0">
                <a:solidFill>
                  <a:srgbClr val="697586"/>
                </a:solidFill>
              </a:rPr>
              <a:t>Serviços padronizados e modelos de referência para reduzir retrabalho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952B7D-C425-4359-94C0-05225EF4412D}"/>
              </a:ext>
            </a:extLst>
          </p:cNvPr>
          <p:cNvSpPr>
            <a:spLocks noGrp="1"/>
          </p:cNvSpPr>
          <p:nvPr/>
        </p:nvSpPr>
        <p:spPr>
          <a:xfrm>
            <a:off x="666750" y="63531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97586"/>
                </a:solidFill>
              </a:defRPr>
            </a:defPPr>
          </a:lstStyle>
          <a:p>
            <a:pPr>
              <a:defRPr sz="1200" b="0">
                <a:solidFill>
                  <a:srgbClr val="697586"/>
                </a:solidFill>
              </a:defRPr>
            </a:pPr>
            <a:r>
              <a:rPr sz="1200" b="0">
                <a:solidFill>
                  <a:srgbClr val="697586"/>
                </a:solidFill>
              </a:rPr>
              <a:t>LumiMining · Estrutura CMMS · 15 outubro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BA49D2-12EB-4B74-98D1-23D5479D25B0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0866EF"/>
                </a:solidFill>
              </a:defRPr>
            </a:defPPr>
          </a:lstStyle>
          <a:p>
            <a:pPr>
              <a:defRPr sz="1350" b="1">
                <a:solidFill>
                  <a:srgbClr val="0866EF"/>
                </a:solidFill>
              </a:defRPr>
            </a:pPr>
            <a:r>
              <a:rPr sz="1350" b="1">
                <a:solidFill>
                  <a:srgbClr val="0866EF"/>
                </a:solidFill>
              </a:rPr>
              <a:t>05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C1D9F07-9A8D-4B94-BB3A-2512F06D909A}"/>
              </a:ext>
            </a:extLst>
          </p:cNvPr>
          <p:cNvSpPr>
            <a:spLocks noGrp="1"/>
          </p:cNvSpPr>
          <p:nvPr/>
        </p:nvSpPr>
        <p:spPr>
          <a:xfrm>
            <a:off x="57150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546800-E7F6-43F6-AF3F-763DAEBE48A3}"/>
              </a:ext>
            </a:extLst>
          </p:cNvPr>
          <p:cNvSpPr>
            <a:spLocks noGrp="1"/>
          </p:cNvSpPr>
          <p:nvPr/>
        </p:nvSpPr>
        <p:spPr>
          <a:xfrm>
            <a:off x="80010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Serviços padrão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D5FFCF-A07D-4C86-A504-04557FCF49A4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Escopo, tarefas, recursos, materiais e documentos de execução.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D08454E-2338-4DD3-A9DA-B42E2437487F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A3DA38-C180-4F65-96D0-6A50A0E55CDC}"/>
              </a:ext>
            </a:extLst>
          </p:cNvPr>
          <p:cNvSpPr>
            <a:spLocks noGrp="1"/>
          </p:cNvSpPr>
          <p:nvPr/>
        </p:nvSpPr>
        <p:spPr>
          <a:xfrm>
            <a:off x="641985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Planos de manutenção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E2C1D6-FA1C-4282-A806-21518E183665}"/>
              </a:ext>
            </a:extLst>
          </p:cNvPr>
          <p:cNvSpPr>
            <a:spLocks noGrp="1"/>
          </p:cNvSpPr>
          <p:nvPr/>
        </p:nvSpPr>
        <p:spPr>
          <a:xfrm>
            <a:off x="641985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Regras por data, uso ou condição, vinculadas ao ativo e à estratégia.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5F96FCC-75D8-4730-B5C7-EC54C81FA867}"/>
              </a:ext>
            </a:extLst>
          </p:cNvPr>
          <p:cNvSpPr>
            <a:spLocks noGrp="1"/>
          </p:cNvSpPr>
          <p:nvPr/>
        </p:nvSpPr>
        <p:spPr>
          <a:xfrm>
            <a:off x="57150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A5AD58-9C34-4614-A88F-FCBA5B5BB505}"/>
              </a:ext>
            </a:extLst>
          </p:cNvPr>
          <p:cNvSpPr>
            <a:spLocks noGrp="1"/>
          </p:cNvSpPr>
          <p:nvPr/>
        </p:nvSpPr>
        <p:spPr>
          <a:xfrm>
            <a:off x="80010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Referência por modelo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A84FA1-A0C9-47D0-87DD-3EF572399948}"/>
              </a:ext>
            </a:extLst>
          </p:cNvPr>
          <p:cNvSpPr>
            <a:spLocks noGrp="1"/>
          </p:cNvSpPr>
          <p:nvPr/>
        </p:nvSpPr>
        <p:spPr>
          <a:xfrm>
            <a:off x="80010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Templates com controle de versões e exceções por equipamento.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1E7970D-725F-4EE8-9783-A6B914E27D6B}"/>
              </a:ext>
            </a:extLst>
          </p:cNvPr>
          <p:cNvSpPr>
            <a:spLocks noGrp="1"/>
          </p:cNvSpPr>
          <p:nvPr/>
        </p:nvSpPr>
        <p:spPr>
          <a:xfrm>
            <a:off x="619125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2D21F3-9557-405F-BDD4-5366CC47CE29}"/>
              </a:ext>
            </a:extLst>
          </p:cNvPr>
          <p:cNvSpPr>
            <a:spLocks noGrp="1"/>
          </p:cNvSpPr>
          <p:nvPr/>
        </p:nvSpPr>
        <p:spPr>
          <a:xfrm>
            <a:off x="641985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Conhecimento técnico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1411FC-FD48-4A96-A8A5-A76E6E3865C6}"/>
              </a:ext>
            </a:extLst>
          </p:cNvPr>
          <p:cNvSpPr>
            <a:spLocks noGrp="1"/>
          </p:cNvSpPr>
          <p:nvPr/>
        </p:nvSpPr>
        <p:spPr>
          <a:xfrm>
            <a:off x="641985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Problemas de equipamento, investigação, evidências e ações corretivas.</a:t>
            </a:r>
          </a:p>
        </p:txBody>
      </p:sp>
    </p:spTree>
    <p:extLst>
      <p:ext uri="{BB962C8B-B14F-4D97-AF65-F5344CB8AC3E}">
        <p14:creationId xmlns:p14="http://schemas.microsoft.com/office/powerpoint/2010/main" val="323067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4030DB1-4828-4A1B-8F01-CFC2858863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655388-D2AE-49B9-8762-07B124C59A7B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202124"/>
                </a:solidFill>
              </a:defRPr>
            </a:defPPr>
          </a:lstStyle>
          <a:p>
            <a:pPr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LumiMining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DF7227-F912-4563-9C2F-612A41DD4030}"/>
              </a:ext>
            </a:extLst>
          </p:cNvPr>
          <p:cNvSpPr>
            <a:spLocks noGrp="1"/>
          </p:cNvSpPr>
          <p:nvPr/>
        </p:nvSpPr>
        <p:spPr>
          <a:xfrm>
            <a:off x="9620250" y="1428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97586"/>
                </a:solidFill>
              </a:defRPr>
            </a:defPPr>
          </a:lstStyle>
          <a:p>
            <a:pPr>
              <a:defRPr sz="1275" b="0">
                <a:solidFill>
                  <a:srgbClr val="697586"/>
                </a:solidFill>
              </a:defRPr>
            </a:pPr>
            <a:r>
              <a:rPr sz="1275" b="0">
                <a:solidFill>
                  <a:srgbClr val="697586"/>
                </a:solidFill>
              </a:rPr>
              <a:t>Asset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FC667E-E210-48F2-949F-AA57095ED2E7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2124"/>
                </a:solidFill>
              </a:defRPr>
            </a:defPPr>
          </a:lstStyle>
          <a:p>
            <a:pPr>
              <a:defRPr sz="3300" b="1">
                <a:solidFill>
                  <a:srgbClr val="202124"/>
                </a:solidFill>
              </a:defRPr>
            </a:pPr>
            <a:r>
              <a:rPr sz="3300" b="1">
                <a:solidFill>
                  <a:srgbClr val="202124"/>
                </a:solidFill>
              </a:rPr>
              <a:t>Fluxo operacional do CMMS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D12A33-A1CE-462F-A6FE-8827E5674F51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1081087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97586"/>
                </a:solidFill>
              </a:defRPr>
            </a:defPPr>
          </a:lstStyle>
          <a:p>
            <a:pPr>
              <a:defRPr sz="1875" b="0">
                <a:solidFill>
                  <a:srgbClr val="697586"/>
                </a:solidFill>
              </a:defRPr>
            </a:pPr>
            <a:r>
              <a:rPr sz="1875" b="0">
                <a:solidFill>
                  <a:srgbClr val="697586"/>
                </a:solidFill>
              </a:rPr>
              <a:t>Proposta de continuidade entre a condição identificada e o serviço concluído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995E28-660D-42F3-8DD8-F05920114AF8}"/>
              </a:ext>
            </a:extLst>
          </p:cNvPr>
          <p:cNvSpPr>
            <a:spLocks noGrp="1"/>
          </p:cNvSpPr>
          <p:nvPr/>
        </p:nvSpPr>
        <p:spPr>
          <a:xfrm>
            <a:off x="666750" y="63531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97586"/>
                </a:solidFill>
              </a:defRPr>
            </a:defPPr>
          </a:lstStyle>
          <a:p>
            <a:pPr>
              <a:defRPr sz="1200" b="0">
                <a:solidFill>
                  <a:srgbClr val="697586"/>
                </a:solidFill>
              </a:defRPr>
            </a:pPr>
            <a:r>
              <a:rPr sz="1200" b="0">
                <a:solidFill>
                  <a:srgbClr val="697586"/>
                </a:solidFill>
              </a:rPr>
              <a:t>LumiMining · Estrutura CMMS · 15 outubro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EE0D8A-4B97-4650-A23A-F8FAFA5CAC5F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0866EF"/>
                </a:solidFill>
              </a:defRPr>
            </a:defPPr>
          </a:lstStyle>
          <a:p>
            <a:pPr>
              <a:defRPr sz="1350" b="1">
                <a:solidFill>
                  <a:srgbClr val="0866EF"/>
                </a:solidFill>
              </a:defRPr>
            </a:pPr>
            <a:r>
              <a:rPr sz="1350" b="1">
                <a:solidFill>
                  <a:srgbClr val="0866EF"/>
                </a:solidFill>
              </a:rPr>
              <a:t>06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94A7E2B-EE3E-483D-B5B8-6865C188913A}"/>
              </a:ext>
            </a:extLst>
          </p:cNvPr>
          <p:cNvSpPr>
            <a:spLocks noGrp="1"/>
          </p:cNvSpPr>
          <p:nvPr/>
        </p:nvSpPr>
        <p:spPr>
          <a:xfrm>
            <a:off x="571500" y="25050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84C5ED-5BFB-4B96-BEEC-2183783791DA}"/>
              </a:ext>
            </a:extLst>
          </p:cNvPr>
          <p:cNvSpPr>
            <a:spLocks noGrp="1"/>
          </p:cNvSpPr>
          <p:nvPr/>
        </p:nvSpPr>
        <p:spPr>
          <a:xfrm>
            <a:off x="762000" y="26003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866EF"/>
                </a:solidFill>
              </a:defRPr>
            </a:defPPr>
          </a:lstStyle>
          <a:p>
            <a:pPr>
              <a:defRPr sz="1950" b="1">
                <a:solidFill>
                  <a:srgbClr val="0866EF"/>
                </a:solidFill>
              </a:defRPr>
            </a:pPr>
            <a:r>
              <a:rPr sz="1950" b="1">
                <a:solidFill>
                  <a:srgbClr val="0866EF"/>
                </a:solidFill>
              </a:rPr>
              <a:t>01 · Demanda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1861CE-70B3-4D52-A1A2-2AF602BC6445}"/>
              </a:ext>
            </a:extLst>
          </p:cNvPr>
          <p:cNvSpPr>
            <a:spLocks noGrp="1"/>
          </p:cNvSpPr>
          <p:nvPr/>
        </p:nvSpPr>
        <p:spPr>
          <a:xfrm>
            <a:off x="3810000" y="2600325"/>
            <a:ext cx="7572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Inspeção, notificação, preventiva ou condição gera uma necessidade rastreável.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84FFCCC-E05E-4A9E-A489-9D4341B6E735}"/>
              </a:ext>
            </a:extLst>
          </p:cNvPr>
          <p:cNvSpPr>
            <a:spLocks noGrp="1"/>
          </p:cNvSpPr>
          <p:nvPr/>
        </p:nvSpPr>
        <p:spPr>
          <a:xfrm>
            <a:off x="571500" y="33432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04D379-9563-410A-A03E-A63FA6587442}"/>
              </a:ext>
            </a:extLst>
          </p:cNvPr>
          <p:cNvSpPr>
            <a:spLocks noGrp="1"/>
          </p:cNvSpPr>
          <p:nvPr/>
        </p:nvSpPr>
        <p:spPr>
          <a:xfrm>
            <a:off x="762000" y="34385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866EF"/>
                </a:solidFill>
              </a:defRPr>
            </a:defPPr>
          </a:lstStyle>
          <a:p>
            <a:pPr>
              <a:defRPr sz="1950" b="1">
                <a:solidFill>
                  <a:srgbClr val="0866EF"/>
                </a:solidFill>
              </a:defRPr>
            </a:pPr>
            <a:r>
              <a:rPr sz="1950" b="1">
                <a:solidFill>
                  <a:srgbClr val="0866EF"/>
                </a:solidFill>
              </a:rPr>
              <a:t>02 · Planejamento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382AA0-5BB1-43EE-822D-11D4F9F32250}"/>
              </a:ext>
            </a:extLst>
          </p:cNvPr>
          <p:cNvSpPr>
            <a:spLocks noGrp="1"/>
          </p:cNvSpPr>
          <p:nvPr/>
        </p:nvSpPr>
        <p:spPr>
          <a:xfrm>
            <a:off x="3810000" y="3438525"/>
            <a:ext cx="7572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Avaliar risco, priorizar backlog e preparar escopo, peças, equipe e janela.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D5FF2D-C177-4C0D-BA44-B757AFA7968C}"/>
              </a:ext>
            </a:extLst>
          </p:cNvPr>
          <p:cNvSpPr>
            <a:spLocks noGrp="1"/>
          </p:cNvSpPr>
          <p:nvPr/>
        </p:nvSpPr>
        <p:spPr>
          <a:xfrm>
            <a:off x="571500" y="41814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3F6348-775D-483B-8842-CEF47009CEAD}"/>
              </a:ext>
            </a:extLst>
          </p:cNvPr>
          <p:cNvSpPr>
            <a:spLocks noGrp="1"/>
          </p:cNvSpPr>
          <p:nvPr/>
        </p:nvSpPr>
        <p:spPr>
          <a:xfrm>
            <a:off x="762000" y="42767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866EF"/>
                </a:solidFill>
              </a:defRPr>
            </a:defPPr>
          </a:lstStyle>
          <a:p>
            <a:pPr>
              <a:defRPr sz="1950" b="1">
                <a:solidFill>
                  <a:srgbClr val="0866EF"/>
                </a:solidFill>
              </a:defRPr>
            </a:pPr>
            <a:r>
              <a:rPr sz="1950" b="1">
                <a:solidFill>
                  <a:srgbClr val="0866EF"/>
                </a:solidFill>
              </a:rPr>
              <a:t>03 · Execução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C11131-3654-4744-B8F9-97E918F17AB9}"/>
              </a:ext>
            </a:extLst>
          </p:cNvPr>
          <p:cNvSpPr>
            <a:spLocks noGrp="1"/>
          </p:cNvSpPr>
          <p:nvPr/>
        </p:nvSpPr>
        <p:spPr>
          <a:xfrm>
            <a:off x="3810000" y="4276725"/>
            <a:ext cx="7572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Autorizar a OS, registrar trabalho, horas, materiais e evidências.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B9C7A1E-9711-4817-8402-B89BACB63538}"/>
              </a:ext>
            </a:extLst>
          </p:cNvPr>
          <p:cNvSpPr>
            <a:spLocks noGrp="1"/>
          </p:cNvSpPr>
          <p:nvPr/>
        </p:nvSpPr>
        <p:spPr>
          <a:xfrm>
            <a:off x="571500" y="50196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7E2258-6421-4C03-B2FB-46AA4D25FADD}"/>
              </a:ext>
            </a:extLst>
          </p:cNvPr>
          <p:cNvSpPr>
            <a:spLocks noGrp="1"/>
          </p:cNvSpPr>
          <p:nvPr/>
        </p:nvSpPr>
        <p:spPr>
          <a:xfrm>
            <a:off x="762000" y="51149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866EF"/>
                </a:solidFill>
              </a:defRPr>
            </a:defPPr>
          </a:lstStyle>
          <a:p>
            <a:pPr>
              <a:defRPr sz="1950" b="1">
                <a:solidFill>
                  <a:srgbClr val="0866EF"/>
                </a:solidFill>
              </a:defRPr>
            </a:pPr>
            <a:r>
              <a:rPr sz="1950" b="1">
                <a:solidFill>
                  <a:srgbClr val="0866EF"/>
                </a:solidFill>
              </a:rPr>
              <a:t>04 · Verificação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6A8BF1-0FA9-4843-A5FA-E94439E4C46D}"/>
              </a:ext>
            </a:extLst>
          </p:cNvPr>
          <p:cNvSpPr>
            <a:spLocks noGrp="1"/>
          </p:cNvSpPr>
          <p:nvPr/>
        </p:nvSpPr>
        <p:spPr>
          <a:xfrm>
            <a:off x="3810000" y="5114925"/>
            <a:ext cx="7572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Validar o reparo, liberar o equipamento e atualizar histórico, custos e condição.</a:t>
            </a:r>
          </a:p>
        </p:txBody>
      </p:sp>
    </p:spTree>
    <p:extLst>
      <p:ext uri="{BB962C8B-B14F-4D97-AF65-F5344CB8AC3E}">
        <p14:creationId xmlns:p14="http://schemas.microsoft.com/office/powerpoint/2010/main" val="110884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24C3ABA-868D-4221-A662-D520A9CABE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2436DD-93BA-442B-830C-56149138DA1C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202124"/>
                </a:solidFill>
              </a:defRPr>
            </a:defPPr>
          </a:lstStyle>
          <a:p>
            <a:pPr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LumiMining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D6C795-1821-49C4-88EF-68408864D1CC}"/>
              </a:ext>
            </a:extLst>
          </p:cNvPr>
          <p:cNvSpPr>
            <a:spLocks noGrp="1"/>
          </p:cNvSpPr>
          <p:nvPr/>
        </p:nvSpPr>
        <p:spPr>
          <a:xfrm>
            <a:off x="9620250" y="1428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97586"/>
                </a:solidFill>
              </a:defRPr>
            </a:defPPr>
          </a:lstStyle>
          <a:p>
            <a:pPr>
              <a:defRPr sz="1275" b="0">
                <a:solidFill>
                  <a:srgbClr val="697586"/>
                </a:solidFill>
              </a:defRPr>
            </a:pPr>
            <a:r>
              <a:rPr sz="1275" b="0">
                <a:solidFill>
                  <a:srgbClr val="697586"/>
                </a:solidFill>
              </a:rPr>
              <a:t>Asset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737CB2-2C49-4D13-987B-A8440D481369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2124"/>
                </a:solidFill>
              </a:defRPr>
            </a:defPPr>
          </a:lstStyle>
          <a:p>
            <a:pPr>
              <a:defRPr sz="3300" b="1">
                <a:solidFill>
                  <a:srgbClr val="202124"/>
                </a:solidFill>
              </a:defRPr>
            </a:pPr>
            <a:r>
              <a:rPr sz="3300" b="1">
                <a:solidFill>
                  <a:srgbClr val="202124"/>
                </a:solidFill>
              </a:rPr>
              <a:t>Planejamento em dois horizontes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E9AC4F-65B2-4CB4-A5A6-C3EBE409AB63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1081087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97586"/>
                </a:solidFill>
              </a:defRPr>
            </a:defPPr>
          </a:lstStyle>
          <a:p>
            <a:pPr>
              <a:defRPr sz="1875" b="0">
                <a:solidFill>
                  <a:srgbClr val="697586"/>
                </a:solidFill>
              </a:defRPr>
            </a:pPr>
            <a:r>
              <a:rPr sz="1875" b="0">
                <a:solidFill>
                  <a:srgbClr val="697586"/>
                </a:solidFill>
              </a:rPr>
              <a:t>Programação diária e semanal conectada à previsão de necessidades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742633-981A-4CD5-966F-7168ACB598BE}"/>
              </a:ext>
            </a:extLst>
          </p:cNvPr>
          <p:cNvSpPr>
            <a:spLocks noGrp="1"/>
          </p:cNvSpPr>
          <p:nvPr/>
        </p:nvSpPr>
        <p:spPr>
          <a:xfrm>
            <a:off x="666750" y="63531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97586"/>
                </a:solidFill>
              </a:defRPr>
            </a:defPPr>
          </a:lstStyle>
          <a:p>
            <a:pPr>
              <a:defRPr sz="1200" b="0">
                <a:solidFill>
                  <a:srgbClr val="697586"/>
                </a:solidFill>
              </a:defRPr>
            </a:pPr>
            <a:r>
              <a:rPr sz="1200" b="0">
                <a:solidFill>
                  <a:srgbClr val="697586"/>
                </a:solidFill>
              </a:rPr>
              <a:t>LumiMining · Estrutura CMMS · 15 outubro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1B18C5-5964-4D66-A204-C074C3A3FFC0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0866EF"/>
                </a:solidFill>
              </a:defRPr>
            </a:defPPr>
          </a:lstStyle>
          <a:p>
            <a:pPr>
              <a:defRPr sz="1350" b="1">
                <a:solidFill>
                  <a:srgbClr val="0866EF"/>
                </a:solidFill>
              </a:defRPr>
            </a:pPr>
            <a:r>
              <a:rPr sz="1350" b="1">
                <a:solidFill>
                  <a:srgbClr val="0866EF"/>
                </a:solidFill>
              </a:rPr>
              <a:t>07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7F1C91F-E1D9-410C-B71E-8D1BDAD39F28}"/>
              </a:ext>
            </a:extLst>
          </p:cNvPr>
          <p:cNvSpPr>
            <a:spLocks noGrp="1"/>
          </p:cNvSpPr>
          <p:nvPr/>
        </p:nvSpPr>
        <p:spPr>
          <a:xfrm>
            <a:off x="57150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CA1E72-E4DD-46A2-A1F6-E327CA4385EE}"/>
              </a:ext>
            </a:extLst>
          </p:cNvPr>
          <p:cNvSpPr>
            <a:spLocks noGrp="1"/>
          </p:cNvSpPr>
          <p:nvPr/>
        </p:nvSpPr>
        <p:spPr>
          <a:xfrm>
            <a:off x="80010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Curto prazo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B90CDB-3524-45EA-B578-7BE1891FB331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Backlog, preventivas, disponibilidade de equipe e programação semanal.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6235B1-41C1-442E-92B1-00C75AA1C4C9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F37A9C-88BF-4808-94F2-BCC8714AC59C}"/>
              </a:ext>
            </a:extLst>
          </p:cNvPr>
          <p:cNvSpPr>
            <a:spLocks noGrp="1"/>
          </p:cNvSpPr>
          <p:nvPr/>
        </p:nvSpPr>
        <p:spPr>
          <a:xfrm>
            <a:off x="641985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Prontidão do serviço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8FC058-4EB3-4E8D-8FED-CC48B9B11BEA}"/>
              </a:ext>
            </a:extLst>
          </p:cNvPr>
          <p:cNvSpPr>
            <a:spLocks noGrp="1"/>
          </p:cNvSpPr>
          <p:nvPr/>
        </p:nvSpPr>
        <p:spPr>
          <a:xfrm>
            <a:off x="641985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Escopo aprovado, materiais, recursos e janela operacional disponíveis.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385D839-2FD5-4F68-BFF2-4248E4B4FA6A}"/>
              </a:ext>
            </a:extLst>
          </p:cNvPr>
          <p:cNvSpPr>
            <a:spLocks noGrp="1"/>
          </p:cNvSpPr>
          <p:nvPr/>
        </p:nvSpPr>
        <p:spPr>
          <a:xfrm>
            <a:off x="57150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49B6B7-7ADE-4C40-88B9-06735CBD6FB1}"/>
              </a:ext>
            </a:extLst>
          </p:cNvPr>
          <p:cNvSpPr>
            <a:spLocks noGrp="1"/>
          </p:cNvSpPr>
          <p:nvPr/>
        </p:nvSpPr>
        <p:spPr>
          <a:xfrm>
            <a:off x="80010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Longo prazo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F898C0-10D2-4C4D-A2E2-CCDAC62EB196}"/>
              </a:ext>
            </a:extLst>
          </p:cNvPr>
          <p:cNvSpPr>
            <a:spLocks noGrp="1"/>
          </p:cNvSpPr>
          <p:nvPr/>
        </p:nvSpPr>
        <p:spPr>
          <a:xfrm>
            <a:off x="80010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Trocas de componentes, peças, consumíveis, mão de obra e custos previstos.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EF4BCA1-65A8-41AE-AB5A-677FC951318C}"/>
              </a:ext>
            </a:extLst>
          </p:cNvPr>
          <p:cNvSpPr>
            <a:spLocks noGrp="1"/>
          </p:cNvSpPr>
          <p:nvPr/>
        </p:nvSpPr>
        <p:spPr>
          <a:xfrm>
            <a:off x="619125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C082AE-BA0C-4C22-922D-3A8B2EDE0BCA}"/>
              </a:ext>
            </a:extLst>
          </p:cNvPr>
          <p:cNvSpPr>
            <a:spLocks noGrp="1"/>
          </p:cNvSpPr>
          <p:nvPr/>
        </p:nvSpPr>
        <p:spPr>
          <a:xfrm>
            <a:off x="641985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Dependências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C216CA-5996-4CA8-955E-6CB748D7E02A}"/>
              </a:ext>
            </a:extLst>
          </p:cNvPr>
          <p:cNvSpPr>
            <a:spLocks noGrp="1"/>
          </p:cNvSpPr>
          <p:nvPr/>
        </p:nvSpPr>
        <p:spPr>
          <a:xfrm>
            <a:off x="641985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Horímetros confiáveis, estratégia vigente e serviços padrão completos.</a:t>
            </a:r>
          </a:p>
        </p:txBody>
      </p:sp>
    </p:spTree>
    <p:extLst>
      <p:ext uri="{BB962C8B-B14F-4D97-AF65-F5344CB8AC3E}">
        <p14:creationId xmlns:p14="http://schemas.microsoft.com/office/powerpoint/2010/main" val="2125295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F2E6FD3-F47E-4CA0-956F-0D97865966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AE50DE-7DF1-4B6F-B6F2-B7B760DE790A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202124"/>
                </a:solidFill>
              </a:defRPr>
            </a:defPPr>
          </a:lstStyle>
          <a:p>
            <a:pPr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LumiMining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95608F-E4FF-4F76-891C-D7188B996AEB}"/>
              </a:ext>
            </a:extLst>
          </p:cNvPr>
          <p:cNvSpPr>
            <a:spLocks noGrp="1"/>
          </p:cNvSpPr>
          <p:nvPr/>
        </p:nvSpPr>
        <p:spPr>
          <a:xfrm>
            <a:off x="9620250" y="1428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97586"/>
                </a:solidFill>
              </a:defRPr>
            </a:defPPr>
          </a:lstStyle>
          <a:p>
            <a:pPr>
              <a:defRPr sz="1275" b="0">
                <a:solidFill>
                  <a:srgbClr val="697586"/>
                </a:solidFill>
              </a:defRPr>
            </a:pPr>
            <a:r>
              <a:rPr sz="1275" b="0">
                <a:solidFill>
                  <a:srgbClr val="697586"/>
                </a:solidFill>
              </a:rPr>
              <a:t>Asset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88DC72-105A-4E47-9C20-1D1ACB20D066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2124"/>
                </a:solidFill>
              </a:defRPr>
            </a:defPPr>
          </a:lstStyle>
          <a:p>
            <a:pPr>
              <a:defRPr sz="3300" b="1">
                <a:solidFill>
                  <a:srgbClr val="202124"/>
                </a:solidFill>
              </a:defRPr>
            </a:pPr>
            <a:r>
              <a:rPr sz="3300" b="1">
                <a:solidFill>
                  <a:srgbClr val="202124"/>
                </a:solidFill>
              </a:rPr>
              <a:t>Execução, custos e retorno do campo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ABEAE5-84F4-4580-BC56-23C8E40AF8D6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1081087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97586"/>
                </a:solidFill>
              </a:defRPr>
            </a:defPPr>
          </a:lstStyle>
          <a:p>
            <a:pPr>
              <a:defRPr sz="1875" b="0">
                <a:solidFill>
                  <a:srgbClr val="697586"/>
                </a:solidFill>
              </a:defRPr>
            </a:pPr>
            <a:r>
              <a:rPr sz="1875" b="0">
                <a:solidFill>
                  <a:srgbClr val="697586"/>
                </a:solidFill>
              </a:rPr>
              <a:t>Registros que permitem fechar o trabalho e entender seu resultado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B048A-2C88-43B4-AFCF-E179A4FD01AF}"/>
              </a:ext>
            </a:extLst>
          </p:cNvPr>
          <p:cNvSpPr>
            <a:spLocks noGrp="1"/>
          </p:cNvSpPr>
          <p:nvPr/>
        </p:nvSpPr>
        <p:spPr>
          <a:xfrm>
            <a:off x="666750" y="63531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97586"/>
                </a:solidFill>
              </a:defRPr>
            </a:defPPr>
          </a:lstStyle>
          <a:p>
            <a:pPr>
              <a:defRPr sz="1200" b="0">
                <a:solidFill>
                  <a:srgbClr val="697586"/>
                </a:solidFill>
              </a:defRPr>
            </a:pPr>
            <a:r>
              <a:rPr sz="1200" b="0">
                <a:solidFill>
                  <a:srgbClr val="697586"/>
                </a:solidFill>
              </a:rPr>
              <a:t>LumiMining · Estrutura CMMS · 15 outubro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15C022-4F31-436E-B9CC-F5B4A49AD375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0866EF"/>
                </a:solidFill>
              </a:defRPr>
            </a:defPPr>
          </a:lstStyle>
          <a:p>
            <a:pPr>
              <a:defRPr sz="1350" b="1">
                <a:solidFill>
                  <a:srgbClr val="0866EF"/>
                </a:solidFill>
              </a:defRPr>
            </a:pPr>
            <a:r>
              <a:rPr sz="1350" b="1">
                <a:solidFill>
                  <a:srgbClr val="0866EF"/>
                </a:solidFill>
              </a:rPr>
              <a:t>08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668E00A-40DB-4C1A-9B3B-1D8E8A5D4336}"/>
              </a:ext>
            </a:extLst>
          </p:cNvPr>
          <p:cNvSpPr>
            <a:spLocks noGrp="1"/>
          </p:cNvSpPr>
          <p:nvPr/>
        </p:nvSpPr>
        <p:spPr>
          <a:xfrm>
            <a:off x="57150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F5449E-3BDE-4226-A544-4301AFD60CDB}"/>
              </a:ext>
            </a:extLst>
          </p:cNvPr>
          <p:cNvSpPr>
            <a:spLocks noGrp="1"/>
          </p:cNvSpPr>
          <p:nvPr/>
        </p:nvSpPr>
        <p:spPr>
          <a:xfrm>
            <a:off x="80010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Execução e apontamentos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C6AAEE-B46D-46FB-8CD0-B664B2DD4A26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Atividades, horas, materiais e evidências associados à ordem.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34CFA52-A37D-460E-8BE6-446A4F812FE7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F4C0C9-92C8-4557-AAB5-BA4796C304B0}"/>
              </a:ext>
            </a:extLst>
          </p:cNvPr>
          <p:cNvSpPr>
            <a:spLocks noGrp="1"/>
          </p:cNvSpPr>
          <p:nvPr/>
        </p:nvSpPr>
        <p:spPr>
          <a:xfrm>
            <a:off x="641985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Rotina da operação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4504DA-4974-4FE5-90ED-27C9AFC11850}"/>
              </a:ext>
            </a:extLst>
          </p:cNvPr>
          <p:cNvSpPr>
            <a:spLocks noGrp="1"/>
          </p:cNvSpPr>
          <p:nvPr/>
        </p:nvSpPr>
        <p:spPr>
          <a:xfrm>
            <a:off x="641985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Paradas, medições, inspeções e passagem de turno.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36B4F93-37F7-405D-AFF0-37457732D85A}"/>
              </a:ext>
            </a:extLst>
          </p:cNvPr>
          <p:cNvSpPr>
            <a:spLocks noGrp="1"/>
          </p:cNvSpPr>
          <p:nvPr/>
        </p:nvSpPr>
        <p:spPr>
          <a:xfrm>
            <a:off x="57150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07A0C8-F80A-41A5-A826-F1F58282295F}"/>
              </a:ext>
            </a:extLst>
          </p:cNvPr>
          <p:cNvSpPr>
            <a:spLocks noGrp="1"/>
          </p:cNvSpPr>
          <p:nvPr/>
        </p:nvSpPr>
        <p:spPr>
          <a:xfrm>
            <a:off x="80010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Custos da manutenção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448F47-9101-4683-B80C-3A202318B246}"/>
              </a:ext>
            </a:extLst>
          </p:cNvPr>
          <p:cNvSpPr>
            <a:spLocks noGrp="1"/>
          </p:cNvSpPr>
          <p:nvPr/>
        </p:nvSpPr>
        <p:spPr>
          <a:xfrm>
            <a:off x="80010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Planejado versus realizado, apropriação e conciliação com o ERP.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F93BBD0-5231-4614-91EB-1D1D88042796}"/>
              </a:ext>
            </a:extLst>
          </p:cNvPr>
          <p:cNvSpPr>
            <a:spLocks noGrp="1"/>
          </p:cNvSpPr>
          <p:nvPr/>
        </p:nvSpPr>
        <p:spPr>
          <a:xfrm>
            <a:off x="619125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415784-B458-4AE3-AA94-8F6D01E44977}"/>
              </a:ext>
            </a:extLst>
          </p:cNvPr>
          <p:cNvSpPr>
            <a:spLocks noGrp="1"/>
          </p:cNvSpPr>
          <p:nvPr/>
        </p:nvSpPr>
        <p:spPr>
          <a:xfrm>
            <a:off x="641985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Experiência móvel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FF6E48-6E3A-4082-882D-522CA80B27DB}"/>
              </a:ext>
            </a:extLst>
          </p:cNvPr>
          <p:cNvSpPr>
            <a:spLocks noGrp="1"/>
          </p:cNvSpPr>
          <p:nvPr/>
        </p:nvSpPr>
        <p:spPr>
          <a:xfrm>
            <a:off x="641985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Registro simples no campo, com modo offline se o piloto exigir.</a:t>
            </a:r>
          </a:p>
        </p:txBody>
      </p:sp>
    </p:spTree>
    <p:extLst>
      <p:ext uri="{BB962C8B-B14F-4D97-AF65-F5344CB8AC3E}">
        <p14:creationId xmlns:p14="http://schemas.microsoft.com/office/powerpoint/2010/main" val="580436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93755E4-E4A7-473C-A64A-A24557CD5E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9FFDEC-C5F1-4ACF-96A0-9A96768A7CD3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202124"/>
                </a:solidFill>
              </a:defRPr>
            </a:defPPr>
          </a:lstStyle>
          <a:p>
            <a:pPr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LumiMining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C49207-6B05-4CAD-9F0B-9547C7FE3B63}"/>
              </a:ext>
            </a:extLst>
          </p:cNvPr>
          <p:cNvSpPr>
            <a:spLocks noGrp="1"/>
          </p:cNvSpPr>
          <p:nvPr/>
        </p:nvSpPr>
        <p:spPr>
          <a:xfrm>
            <a:off x="9620250" y="1428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97586"/>
                </a:solidFill>
              </a:defRPr>
            </a:defPPr>
          </a:lstStyle>
          <a:p>
            <a:pPr>
              <a:defRPr sz="1275" b="0">
                <a:solidFill>
                  <a:srgbClr val="697586"/>
                </a:solidFill>
              </a:defRPr>
            </a:pPr>
            <a:r>
              <a:rPr sz="1275" b="0">
                <a:solidFill>
                  <a:srgbClr val="697586"/>
                </a:solidFill>
              </a:rPr>
              <a:t>Asset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AC5FAB-FFE9-494B-A08B-8811DD85206C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2124"/>
                </a:solidFill>
              </a:defRPr>
            </a:defPPr>
          </a:lstStyle>
          <a:p>
            <a:pPr>
              <a:defRPr sz="3300" b="1">
                <a:solidFill>
                  <a:srgbClr val="202124"/>
                </a:solidFill>
              </a:defRPr>
            </a:pPr>
            <a:r>
              <a:rPr sz="3300" b="1">
                <a:solidFill>
                  <a:srgbClr val="202124"/>
                </a:solidFill>
              </a:rPr>
              <a:t>Confiabilidade, indicadores e orçamento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59784-8984-4E65-8A9D-2C7DD6A9C72F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1081087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97586"/>
                </a:solidFill>
              </a:defRPr>
            </a:defPPr>
          </a:lstStyle>
          <a:p>
            <a:pPr>
              <a:defRPr sz="1875" b="0">
                <a:solidFill>
                  <a:srgbClr val="697586"/>
                </a:solidFill>
              </a:defRPr>
            </a:pPr>
            <a:r>
              <a:rPr sz="1875" b="0">
                <a:solidFill>
                  <a:srgbClr val="697586"/>
                </a:solidFill>
              </a:rPr>
              <a:t>Uma base comum para avaliar desempenho e revisar a estratégia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BE5D62-9811-4629-909E-A965E2CAD22E}"/>
              </a:ext>
            </a:extLst>
          </p:cNvPr>
          <p:cNvSpPr>
            <a:spLocks noGrp="1"/>
          </p:cNvSpPr>
          <p:nvPr/>
        </p:nvSpPr>
        <p:spPr>
          <a:xfrm>
            <a:off x="666750" y="63531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97586"/>
                </a:solidFill>
              </a:defRPr>
            </a:defPPr>
          </a:lstStyle>
          <a:p>
            <a:pPr>
              <a:defRPr sz="1200" b="0">
                <a:solidFill>
                  <a:srgbClr val="697586"/>
                </a:solidFill>
              </a:defRPr>
            </a:pPr>
            <a:r>
              <a:rPr sz="1200" b="0">
                <a:solidFill>
                  <a:srgbClr val="697586"/>
                </a:solidFill>
              </a:rPr>
              <a:t>LumiMining · Estrutura CMMS · 15 outubro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D0126F-2B1B-45E4-A0D9-AFA1D7015B35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0866EF"/>
                </a:solidFill>
              </a:defRPr>
            </a:defPPr>
          </a:lstStyle>
          <a:p>
            <a:pPr>
              <a:defRPr sz="1350" b="1">
                <a:solidFill>
                  <a:srgbClr val="0866EF"/>
                </a:solidFill>
              </a:defRPr>
            </a:pPr>
            <a:r>
              <a:rPr sz="1350" b="1">
                <a:solidFill>
                  <a:srgbClr val="0866EF"/>
                </a:solidFill>
              </a:rPr>
              <a:t>09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170E1F6-EADB-4649-A384-8A00D247A368}"/>
              </a:ext>
            </a:extLst>
          </p:cNvPr>
          <p:cNvSpPr>
            <a:spLocks noGrp="1"/>
          </p:cNvSpPr>
          <p:nvPr/>
        </p:nvSpPr>
        <p:spPr>
          <a:xfrm>
            <a:off x="57150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5F5F61-DDC3-4D0C-ABE9-32DCB78BDD46}"/>
              </a:ext>
            </a:extLst>
          </p:cNvPr>
          <p:cNvSpPr>
            <a:spLocks noGrp="1"/>
          </p:cNvSpPr>
          <p:nvPr/>
        </p:nvSpPr>
        <p:spPr>
          <a:xfrm>
            <a:off x="80010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Desempenho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BA8893-F2D4-49E6-9EC3-5F8610140038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Disponibilidade, utilização, confiabilidade e eficiência da manutenção.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87E44DB-1C7A-4B03-804E-FD03567AE70D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463B9A-6AA3-445E-8C26-DF20DA52C930}"/>
              </a:ext>
            </a:extLst>
          </p:cNvPr>
          <p:cNvSpPr>
            <a:spLocks noGrp="1"/>
          </p:cNvSpPr>
          <p:nvPr/>
        </p:nvSpPr>
        <p:spPr>
          <a:xfrm>
            <a:off x="641985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Gestão por exceção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D56779-1D18-4F7B-A235-C9C8589CA2EC}"/>
              </a:ext>
            </a:extLst>
          </p:cNvPr>
          <p:cNvSpPr>
            <a:spLocks noGrp="1"/>
          </p:cNvSpPr>
          <p:nvPr/>
        </p:nvSpPr>
        <p:spPr>
          <a:xfrm>
            <a:off x="641985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Pendências, tarefas vencidas, desvios de custo e ausência de leituras.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48D08EE-6BEF-4C0F-B657-5C86E3DE7C6D}"/>
              </a:ext>
            </a:extLst>
          </p:cNvPr>
          <p:cNvSpPr>
            <a:spLocks noGrp="1"/>
          </p:cNvSpPr>
          <p:nvPr/>
        </p:nvSpPr>
        <p:spPr>
          <a:xfrm>
            <a:off x="57150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CFF1ED-4068-4D6F-9A10-515ED0459F20}"/>
              </a:ext>
            </a:extLst>
          </p:cNvPr>
          <p:cNvSpPr>
            <a:spLocks noGrp="1"/>
          </p:cNvSpPr>
          <p:nvPr/>
        </p:nvSpPr>
        <p:spPr>
          <a:xfrm>
            <a:off x="80010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Estratégia e componentes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66D809-E842-4122-B105-963509BD3EEF}"/>
              </a:ext>
            </a:extLst>
          </p:cNvPr>
          <p:cNvSpPr>
            <a:spLocks noGrp="1"/>
          </p:cNvSpPr>
          <p:nvPr/>
        </p:nvSpPr>
        <p:spPr>
          <a:xfrm>
            <a:off x="80010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Histórico, desempenho técnico e comparação entre cenários.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2B77F24-89A3-4531-9689-34CF5DDA26A9}"/>
              </a:ext>
            </a:extLst>
          </p:cNvPr>
          <p:cNvSpPr>
            <a:spLocks noGrp="1"/>
          </p:cNvSpPr>
          <p:nvPr/>
        </p:nvSpPr>
        <p:spPr>
          <a:xfrm>
            <a:off x="619125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296EB5-3F3D-4396-ABD3-E90B9E599804}"/>
              </a:ext>
            </a:extLst>
          </p:cNvPr>
          <p:cNvSpPr>
            <a:spLocks noGrp="1"/>
          </p:cNvSpPr>
          <p:nvPr/>
        </p:nvSpPr>
        <p:spPr>
          <a:xfrm>
            <a:off x="641985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Orçamento e previsão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48B321-8952-41E7-817C-643A735DD4C2}"/>
              </a:ext>
            </a:extLst>
          </p:cNvPr>
          <p:cNvSpPr>
            <a:spLocks noGrp="1"/>
          </p:cNvSpPr>
          <p:nvPr/>
        </p:nvSpPr>
        <p:spPr>
          <a:xfrm>
            <a:off x="641985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Custos previstos, acompanhamento do orçamento e revisões das projeções.</a:t>
            </a:r>
          </a:p>
        </p:txBody>
      </p:sp>
    </p:spTree>
    <p:extLst>
      <p:ext uri="{BB962C8B-B14F-4D97-AF65-F5344CB8AC3E}">
        <p14:creationId xmlns:p14="http://schemas.microsoft.com/office/powerpoint/2010/main" val="1105661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6536450-8ED4-4327-BB58-80D98C5D60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CD6FB9-5A39-4592-AD0E-81EFBA730CFD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202124"/>
                </a:solidFill>
              </a:defRPr>
            </a:defPPr>
          </a:lstStyle>
          <a:p>
            <a:pPr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LumiMining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184D93-E1A2-451E-AD22-F3E05BA76EC6}"/>
              </a:ext>
            </a:extLst>
          </p:cNvPr>
          <p:cNvSpPr>
            <a:spLocks noGrp="1"/>
          </p:cNvSpPr>
          <p:nvPr/>
        </p:nvSpPr>
        <p:spPr>
          <a:xfrm>
            <a:off x="9620250" y="1428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97586"/>
                </a:solidFill>
              </a:defRPr>
            </a:defPPr>
          </a:lstStyle>
          <a:p>
            <a:pPr>
              <a:defRPr sz="1275" b="0">
                <a:solidFill>
                  <a:srgbClr val="697586"/>
                </a:solidFill>
              </a:defRPr>
            </a:pPr>
            <a:r>
              <a:rPr sz="1275" b="0">
                <a:solidFill>
                  <a:srgbClr val="697586"/>
                </a:solidFill>
              </a:rPr>
              <a:t>Asset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8788D6-6C99-4B65-8098-1FBB3F55945E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2124"/>
                </a:solidFill>
              </a:defRPr>
            </a:defPPr>
          </a:lstStyle>
          <a:p>
            <a:pPr>
              <a:defRPr sz="3300" b="1">
                <a:solidFill>
                  <a:srgbClr val="202124"/>
                </a:solidFill>
              </a:defRPr>
            </a:pPr>
            <a:r>
              <a:rPr sz="3300" b="1">
                <a:solidFill>
                  <a:srgbClr val="202124"/>
                </a:solidFill>
              </a:rPr>
              <a:t>Integrações e responsabilidades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ECCA1-AF74-4789-9A85-4BDB7A641B98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1081087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97586"/>
                </a:solidFill>
              </a:defRPr>
            </a:defPPr>
          </a:lstStyle>
          <a:p>
            <a:pPr>
              <a:defRPr sz="1875" b="0">
                <a:solidFill>
                  <a:srgbClr val="697586"/>
                </a:solidFill>
              </a:defRPr>
            </a:pPr>
            <a:r>
              <a:rPr sz="1875" b="0">
                <a:solidFill>
                  <a:srgbClr val="697586"/>
                </a:solidFill>
              </a:rPr>
              <a:t>Proposta de fronteiras para o produto LumiMining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CD1781-2FD1-4803-8804-F400C1A36FE2}"/>
              </a:ext>
            </a:extLst>
          </p:cNvPr>
          <p:cNvSpPr>
            <a:spLocks noGrp="1"/>
          </p:cNvSpPr>
          <p:nvPr/>
        </p:nvSpPr>
        <p:spPr>
          <a:xfrm>
            <a:off x="666750" y="63531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97586"/>
                </a:solidFill>
              </a:defRPr>
            </a:defPPr>
          </a:lstStyle>
          <a:p>
            <a:pPr>
              <a:defRPr sz="1200" b="0">
                <a:solidFill>
                  <a:srgbClr val="697586"/>
                </a:solidFill>
              </a:defRPr>
            </a:pPr>
            <a:r>
              <a:rPr sz="1200" b="0">
                <a:solidFill>
                  <a:srgbClr val="697586"/>
                </a:solidFill>
              </a:rPr>
              <a:t>LumiMining · Estrutura CMMS · 15 outubro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C1597C-BE0F-4CB6-AB82-E7377AA612C0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0866EF"/>
                </a:solidFill>
              </a:defRPr>
            </a:defPPr>
          </a:lstStyle>
          <a:p>
            <a:pPr>
              <a:defRPr sz="1350" b="1">
                <a:solidFill>
                  <a:srgbClr val="0866EF"/>
                </a:solidFill>
              </a:defRPr>
            </a:pPr>
            <a:r>
              <a:rPr sz="1350" b="1">
                <a:solidFill>
                  <a:srgbClr val="0866EF"/>
                </a:solidFill>
              </a:rPr>
              <a:t>10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CA8FFC8-6642-41D8-807F-24B3524B2FC5}"/>
              </a:ext>
            </a:extLst>
          </p:cNvPr>
          <p:cNvSpPr>
            <a:spLocks noGrp="1"/>
          </p:cNvSpPr>
          <p:nvPr/>
        </p:nvSpPr>
        <p:spPr>
          <a:xfrm>
            <a:off x="571500" y="25050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CDC507-0266-47FC-A224-891D9FD7A59B}"/>
              </a:ext>
            </a:extLst>
          </p:cNvPr>
          <p:cNvSpPr>
            <a:spLocks noGrp="1"/>
          </p:cNvSpPr>
          <p:nvPr/>
        </p:nvSpPr>
        <p:spPr>
          <a:xfrm>
            <a:off x="762000" y="26003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866EF"/>
                </a:solidFill>
              </a:defRPr>
            </a:defPPr>
          </a:lstStyle>
          <a:p>
            <a:pPr>
              <a:defRPr sz="1950" b="1">
                <a:solidFill>
                  <a:srgbClr val="0866EF"/>
                </a:solidFill>
              </a:defRPr>
            </a:pPr>
            <a:r>
              <a:rPr sz="1950" b="1">
                <a:solidFill>
                  <a:srgbClr val="0866EF"/>
                </a:solidFill>
              </a:rPr>
              <a:t>CMMS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549F67-806D-4977-BFC3-D46EA0E6D7A0}"/>
              </a:ext>
            </a:extLst>
          </p:cNvPr>
          <p:cNvSpPr>
            <a:spLocks noGrp="1"/>
          </p:cNvSpPr>
          <p:nvPr/>
        </p:nvSpPr>
        <p:spPr>
          <a:xfrm>
            <a:off x="3810000" y="2600325"/>
            <a:ext cx="7572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Dono do fluxo de manutenção, ordens, planejamento e histórico de execução.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2A63AA9-1107-431F-8E73-83EE94155E4C}"/>
              </a:ext>
            </a:extLst>
          </p:cNvPr>
          <p:cNvSpPr>
            <a:spLocks noGrp="1"/>
          </p:cNvSpPr>
          <p:nvPr/>
        </p:nvSpPr>
        <p:spPr>
          <a:xfrm>
            <a:off x="571500" y="33432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94C990-542B-4D09-8087-40D85DEAB6DF}"/>
              </a:ext>
            </a:extLst>
          </p:cNvPr>
          <p:cNvSpPr>
            <a:spLocks noGrp="1"/>
          </p:cNvSpPr>
          <p:nvPr/>
        </p:nvSpPr>
        <p:spPr>
          <a:xfrm>
            <a:off x="762000" y="34385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866EF"/>
                </a:solidFill>
              </a:defRPr>
            </a:defPPr>
          </a:lstStyle>
          <a:p>
            <a:pPr>
              <a:defRPr sz="1950" b="1">
                <a:solidFill>
                  <a:srgbClr val="0866EF"/>
                </a:solidFill>
              </a:defRPr>
            </a:pPr>
            <a:r>
              <a:rPr sz="1950" b="1">
                <a:solidFill>
                  <a:srgbClr val="0866EF"/>
                </a:solidFill>
              </a:rPr>
              <a:t>Asset Health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76F783-07BD-442B-966A-8A04CE5399FB}"/>
              </a:ext>
            </a:extLst>
          </p:cNvPr>
          <p:cNvSpPr>
            <a:spLocks noGrp="1"/>
          </p:cNvSpPr>
          <p:nvPr/>
        </p:nvSpPr>
        <p:spPr>
          <a:xfrm>
            <a:off x="3810000" y="3438525"/>
            <a:ext cx="7572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Avalia condição e risco. Vincula alertas às demandas e recebe evidências do reparo.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B1178ED-BFCE-48F4-B8E5-0D36722FA8BF}"/>
              </a:ext>
            </a:extLst>
          </p:cNvPr>
          <p:cNvSpPr>
            <a:spLocks noGrp="1"/>
          </p:cNvSpPr>
          <p:nvPr/>
        </p:nvSpPr>
        <p:spPr>
          <a:xfrm>
            <a:off x="571500" y="41814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DB9201-8834-4CBC-85F7-7B9C9CF05C85}"/>
              </a:ext>
            </a:extLst>
          </p:cNvPr>
          <p:cNvSpPr>
            <a:spLocks noGrp="1"/>
          </p:cNvSpPr>
          <p:nvPr/>
        </p:nvSpPr>
        <p:spPr>
          <a:xfrm>
            <a:off x="762000" y="42767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866EF"/>
                </a:solidFill>
              </a:defRPr>
            </a:defPPr>
          </a:lstStyle>
          <a:p>
            <a:pPr>
              <a:defRPr sz="1950" b="1">
                <a:solidFill>
                  <a:srgbClr val="0866EF"/>
                </a:solidFill>
              </a:defRPr>
            </a:pPr>
            <a:r>
              <a:rPr sz="1950" b="1">
                <a:solidFill>
                  <a:srgbClr val="0866EF"/>
                </a:solidFill>
              </a:rPr>
              <a:t>ERP e suprimentos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CDF507-1865-4A2D-AF95-6FB0CC67258B}"/>
              </a:ext>
            </a:extLst>
          </p:cNvPr>
          <p:cNvSpPr>
            <a:spLocks noGrp="1"/>
          </p:cNvSpPr>
          <p:nvPr/>
        </p:nvSpPr>
        <p:spPr>
          <a:xfrm>
            <a:off x="3810000" y="4276725"/>
            <a:ext cx="7572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Compras, estoque e contabilidade conforme o sistema mestre definido com o cliente.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68FF859-4A15-4138-95AD-C36F7230CC0A}"/>
              </a:ext>
            </a:extLst>
          </p:cNvPr>
          <p:cNvSpPr>
            <a:spLocks noGrp="1"/>
          </p:cNvSpPr>
          <p:nvPr/>
        </p:nvSpPr>
        <p:spPr>
          <a:xfrm>
            <a:off x="571500" y="50196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4C03AB-493B-452D-8F8F-5FCCF8F657CE}"/>
              </a:ext>
            </a:extLst>
          </p:cNvPr>
          <p:cNvSpPr>
            <a:spLocks noGrp="1"/>
          </p:cNvSpPr>
          <p:nvPr/>
        </p:nvSpPr>
        <p:spPr>
          <a:xfrm>
            <a:off x="762000" y="51149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866EF"/>
                </a:solidFill>
              </a:defRPr>
            </a:defPPr>
          </a:lstStyle>
          <a:p>
            <a:pPr>
              <a:defRPr sz="1950" b="1">
                <a:solidFill>
                  <a:srgbClr val="0866EF"/>
                </a:solidFill>
              </a:defRPr>
            </a:pPr>
            <a:r>
              <a:rPr sz="1950" b="1">
                <a:solidFill>
                  <a:srgbClr val="0866EF"/>
                </a:solidFill>
              </a:rPr>
              <a:t>Telemetria e operação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AB5B1D-B1EC-436E-B636-AD7FBF762E60}"/>
              </a:ext>
            </a:extLst>
          </p:cNvPr>
          <p:cNvSpPr>
            <a:spLocks noGrp="1"/>
          </p:cNvSpPr>
          <p:nvPr/>
        </p:nvSpPr>
        <p:spPr>
          <a:xfrm>
            <a:off x="3810000" y="5114925"/>
            <a:ext cx="7572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Horímetros, medições e eventos, com origem, horário e qualidade identificados.</a:t>
            </a:r>
          </a:p>
        </p:txBody>
      </p:sp>
    </p:spTree>
    <p:extLst>
      <p:ext uri="{BB962C8B-B14F-4D97-AF65-F5344CB8AC3E}">
        <p14:creationId xmlns:p14="http://schemas.microsoft.com/office/powerpoint/2010/main" val="1278991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2001FF0-2F05-4B86-928E-1E419C5C2A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F73A01-71A6-43CD-A7A5-89BEA2B942E4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202124"/>
                </a:solidFill>
              </a:defRPr>
            </a:defPPr>
          </a:lstStyle>
          <a:p>
            <a:pPr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LumiMining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3C796B-CCA0-48CA-BAB3-44C2C891A3AC}"/>
              </a:ext>
            </a:extLst>
          </p:cNvPr>
          <p:cNvSpPr>
            <a:spLocks noGrp="1"/>
          </p:cNvSpPr>
          <p:nvPr/>
        </p:nvSpPr>
        <p:spPr>
          <a:xfrm>
            <a:off x="9620250" y="1428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97586"/>
                </a:solidFill>
              </a:defRPr>
            </a:defPPr>
          </a:lstStyle>
          <a:p>
            <a:pPr>
              <a:defRPr sz="1275" b="0">
                <a:solidFill>
                  <a:srgbClr val="697586"/>
                </a:solidFill>
              </a:defRPr>
            </a:pPr>
            <a:r>
              <a:rPr sz="1275" b="0">
                <a:solidFill>
                  <a:srgbClr val="697586"/>
                </a:solidFill>
              </a:rPr>
              <a:t>Asset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AD9BD4-FB03-4515-A3D6-7733FB50C691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2124"/>
                </a:solidFill>
              </a:defRPr>
            </a:defPPr>
          </a:lstStyle>
          <a:p>
            <a:pPr>
              <a:defRPr sz="3300" b="1">
                <a:solidFill>
                  <a:srgbClr val="202124"/>
                </a:solidFill>
              </a:defRPr>
            </a:pPr>
            <a:r>
              <a:rPr sz="3300" b="1">
                <a:solidFill>
                  <a:srgbClr val="202124"/>
                </a:solidFill>
              </a:rPr>
              <a:t>Módulos especializados e expansão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40E2A5-83A9-4EDB-B8EB-8DE48E08D2C5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1081087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97586"/>
                </a:solidFill>
              </a:defRPr>
            </a:defPPr>
          </a:lstStyle>
          <a:p>
            <a:pPr>
              <a:defRPr sz="1875" b="0">
                <a:solidFill>
                  <a:srgbClr val="697586"/>
                </a:solidFill>
              </a:defRPr>
            </a:pPr>
            <a:r>
              <a:rPr sz="1875" b="0">
                <a:solidFill>
                  <a:srgbClr val="697586"/>
                </a:solidFill>
              </a:rPr>
              <a:t>Áreas identificadas no AMT que dependem do mercado e do modelo de negócio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BD9C8E-4126-41F2-9EF7-948899CF0ADA}"/>
              </a:ext>
            </a:extLst>
          </p:cNvPr>
          <p:cNvSpPr>
            <a:spLocks noGrp="1"/>
          </p:cNvSpPr>
          <p:nvPr/>
        </p:nvSpPr>
        <p:spPr>
          <a:xfrm>
            <a:off x="666750" y="63531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97586"/>
                </a:solidFill>
              </a:defRPr>
            </a:defPPr>
          </a:lstStyle>
          <a:p>
            <a:pPr>
              <a:defRPr sz="1200" b="0">
                <a:solidFill>
                  <a:srgbClr val="697586"/>
                </a:solidFill>
              </a:defRPr>
            </a:pPr>
            <a:r>
              <a:rPr sz="1200" b="0">
                <a:solidFill>
                  <a:srgbClr val="697586"/>
                </a:solidFill>
              </a:rPr>
              <a:t>LumiMining · Estrutura CMMS · 15 outubro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479D57-0E6A-438F-8D46-C2B00BD84ECD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0866EF"/>
                </a:solidFill>
              </a:defRPr>
            </a:defPPr>
          </a:lstStyle>
          <a:p>
            <a:pPr>
              <a:defRPr sz="1350" b="1">
                <a:solidFill>
                  <a:srgbClr val="0866EF"/>
                </a:solidFill>
              </a:defRPr>
            </a:pPr>
            <a:r>
              <a:rPr sz="1350" b="1">
                <a:solidFill>
                  <a:srgbClr val="0866EF"/>
                </a:solidFill>
              </a:rPr>
              <a:t>11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5BDA349-1EF0-46A5-B139-A25F548A5BD0}"/>
              </a:ext>
            </a:extLst>
          </p:cNvPr>
          <p:cNvSpPr>
            <a:spLocks noGrp="1"/>
          </p:cNvSpPr>
          <p:nvPr/>
        </p:nvSpPr>
        <p:spPr>
          <a:xfrm>
            <a:off x="57150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C96CA6-7077-4BF1-9DF6-368E6269A086}"/>
              </a:ext>
            </a:extLst>
          </p:cNvPr>
          <p:cNvSpPr>
            <a:spLocks noGrp="1"/>
          </p:cNvSpPr>
          <p:nvPr/>
        </p:nvSpPr>
        <p:spPr>
          <a:xfrm>
            <a:off x="80010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Contratos e locação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0603AE-98E6-4F5A-A08A-3EBF5F691538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MARC e Plant Hire: avaliar demanda por contratos, cobrança e tarifas.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BE2F34E-4F4E-43D2-B239-C9CA00A43154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0169D8-1EF7-4417-91E0-BA14C2646243}"/>
              </a:ext>
            </a:extLst>
          </p:cNvPr>
          <p:cNvSpPr>
            <a:spLocks noGrp="1"/>
          </p:cNvSpPr>
          <p:nvPr/>
        </p:nvSpPr>
        <p:spPr>
          <a:xfrm>
            <a:off x="641985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Componentes recuperáveis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E33D50-6BF0-42D6-ABBF-3C71EA0C732C}"/>
              </a:ext>
            </a:extLst>
          </p:cNvPr>
          <p:cNvSpPr>
            <a:spLocks noGrp="1"/>
          </p:cNvSpPr>
          <p:nvPr/>
        </p:nvSpPr>
        <p:spPr>
          <a:xfrm>
            <a:off x="641985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Core Tracker: aprofundar fluxo de recuperação e rastreabilidade.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EB7C63B-23A2-477E-8E00-A9A3588A9829}"/>
              </a:ext>
            </a:extLst>
          </p:cNvPr>
          <p:cNvSpPr>
            <a:spLocks noGrp="1"/>
          </p:cNvSpPr>
          <p:nvPr/>
        </p:nvSpPr>
        <p:spPr>
          <a:xfrm>
            <a:off x="57150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215ED2-7624-4A2B-90CF-0821D992EB55}"/>
              </a:ext>
            </a:extLst>
          </p:cNvPr>
          <p:cNvSpPr>
            <a:spLocks noGrp="1"/>
          </p:cNvSpPr>
          <p:nvPr/>
        </p:nvSpPr>
        <p:spPr>
          <a:xfrm>
            <a:off x="80010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Paradas de grande porte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613E26-98E3-43E2-B69F-319D47ABDA1E}"/>
              </a:ext>
            </a:extLst>
          </p:cNvPr>
          <p:cNvSpPr>
            <a:spLocks noGrp="1"/>
          </p:cNvSpPr>
          <p:nvPr/>
        </p:nvSpPr>
        <p:spPr>
          <a:xfrm>
            <a:off x="80010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Shutdown, Turnaround, Outage: detalhar coordenação de intervenções.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5A67A3E-879E-4678-B5E1-D9A4BAEA6483}"/>
              </a:ext>
            </a:extLst>
          </p:cNvPr>
          <p:cNvSpPr>
            <a:spLocks noGrp="1"/>
          </p:cNvSpPr>
          <p:nvPr/>
        </p:nvSpPr>
        <p:spPr>
          <a:xfrm>
            <a:off x="619125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0DDADF-3EE9-4F96-ADCE-A0653281376F}"/>
              </a:ext>
            </a:extLst>
          </p:cNvPr>
          <p:cNvSpPr>
            <a:spLocks noGrp="1"/>
          </p:cNvSpPr>
          <p:nvPr/>
        </p:nvSpPr>
        <p:spPr>
          <a:xfrm>
            <a:off x="641985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Outras extensões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3FE5E2-1503-4534-8DDA-953499120D54}"/>
              </a:ext>
            </a:extLst>
          </p:cNvPr>
          <p:cNvSpPr>
            <a:spLocks noGrp="1"/>
          </p:cNvSpPr>
          <p:nvPr/>
        </p:nvSpPr>
        <p:spPr>
          <a:xfrm>
            <a:off x="641985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Modelling, avaliação de ativos, AMT IC e Product Support Marketing.</a:t>
            </a:r>
          </a:p>
        </p:txBody>
      </p:sp>
    </p:spTree>
    <p:extLst>
      <p:ext uri="{BB962C8B-B14F-4D97-AF65-F5344CB8AC3E}">
        <p14:creationId xmlns:p14="http://schemas.microsoft.com/office/powerpoint/2010/main" val="134186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CAB736F-C900-4B62-892D-378C8AE2A9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69A3A4-C4A0-4947-9511-366FE77E7A43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202124"/>
                </a:solidFill>
              </a:defRPr>
            </a:defPPr>
          </a:lstStyle>
          <a:p>
            <a:pPr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LumiMining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DEDCBB-6FE1-4059-B636-A88F8BE6CDAE}"/>
              </a:ext>
            </a:extLst>
          </p:cNvPr>
          <p:cNvSpPr>
            <a:spLocks noGrp="1"/>
          </p:cNvSpPr>
          <p:nvPr/>
        </p:nvSpPr>
        <p:spPr>
          <a:xfrm>
            <a:off x="9620250" y="1428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97586"/>
                </a:solidFill>
              </a:defRPr>
            </a:defPPr>
          </a:lstStyle>
          <a:p>
            <a:pPr>
              <a:defRPr sz="1275" b="0">
                <a:solidFill>
                  <a:srgbClr val="697586"/>
                </a:solidFill>
              </a:defRPr>
            </a:pPr>
            <a:r>
              <a:rPr sz="1275" b="0">
                <a:solidFill>
                  <a:srgbClr val="697586"/>
                </a:solidFill>
              </a:rPr>
              <a:t>Asset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120B9E-27B7-4517-97C8-CA4B262D5AE8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2124"/>
                </a:solidFill>
              </a:defRPr>
            </a:defPPr>
          </a:lstStyle>
          <a:p>
            <a:pPr>
              <a:defRPr sz="3300" b="1">
                <a:solidFill>
                  <a:srgbClr val="202124"/>
                </a:solidFill>
              </a:defRPr>
            </a:pPr>
            <a:r>
              <a:rPr sz="3300" b="1">
                <a:solidFill>
                  <a:srgbClr val="202124"/>
                </a:solidFill>
              </a:rPr>
              <a:t>Evolução proposta do produto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BD9760-CD6E-4E0F-9444-C6E9D4E7ABA4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1081087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97586"/>
                </a:solidFill>
              </a:defRPr>
            </a:defPPr>
          </a:lstStyle>
          <a:p>
            <a:pPr>
              <a:defRPr sz="1875" b="0">
                <a:solidFill>
                  <a:srgbClr val="697586"/>
                </a:solidFill>
              </a:defRPr>
            </a:pPr>
            <a:r>
              <a:rPr sz="1875" b="0">
                <a:solidFill>
                  <a:srgbClr val="697586"/>
                </a:solidFill>
              </a:rPr>
              <a:t>Sequência de escopo a validar, sem compromisso de prazo nesta etapa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EC3D8B-F7D7-4B55-8125-89D4AAD2D798}"/>
              </a:ext>
            </a:extLst>
          </p:cNvPr>
          <p:cNvSpPr>
            <a:spLocks noGrp="1"/>
          </p:cNvSpPr>
          <p:nvPr/>
        </p:nvSpPr>
        <p:spPr>
          <a:xfrm>
            <a:off x="666750" y="63531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97586"/>
                </a:solidFill>
              </a:defRPr>
            </a:defPPr>
          </a:lstStyle>
          <a:p>
            <a:pPr>
              <a:defRPr sz="1200" b="0">
                <a:solidFill>
                  <a:srgbClr val="697586"/>
                </a:solidFill>
              </a:defRPr>
            </a:pPr>
            <a:r>
              <a:rPr sz="1200" b="0">
                <a:solidFill>
                  <a:srgbClr val="697586"/>
                </a:solidFill>
              </a:rPr>
              <a:t>LumiMining · Estrutura CMMS · 15 outubro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EEFB3-68B6-4E07-90DF-EDD44D2482BF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0866EF"/>
                </a:solidFill>
              </a:defRPr>
            </a:defPPr>
          </a:lstStyle>
          <a:p>
            <a:pPr>
              <a:defRPr sz="1350" b="1">
                <a:solidFill>
                  <a:srgbClr val="0866EF"/>
                </a:solidFill>
              </a:defRPr>
            </a:pPr>
            <a:r>
              <a:rPr sz="1350" b="1">
                <a:solidFill>
                  <a:srgbClr val="0866EF"/>
                </a:solidFill>
              </a:rPr>
              <a:t>12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C817309-76ED-42EC-9FF1-143C62121F9E}"/>
              </a:ext>
            </a:extLst>
          </p:cNvPr>
          <p:cNvSpPr>
            <a:spLocks noGrp="1"/>
          </p:cNvSpPr>
          <p:nvPr/>
        </p:nvSpPr>
        <p:spPr>
          <a:xfrm>
            <a:off x="57150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9D123E-F45D-4B82-BE48-AA2AA1ABC68D}"/>
              </a:ext>
            </a:extLst>
          </p:cNvPr>
          <p:cNvSpPr>
            <a:spLocks noGrp="1"/>
          </p:cNvSpPr>
          <p:nvPr/>
        </p:nvSpPr>
        <p:spPr>
          <a:xfrm>
            <a:off x="80010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Primeira versão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2893C8-865F-40AA-80CC-2D9BAA0DD091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Ativos, inspeções, backlog, serviços padrão, preventivas, OS e histórico.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722A95B-B48E-49EB-BB12-DDDEFA3DE065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629621-C2C2-467D-A992-E6ED4CEF033D}"/>
              </a:ext>
            </a:extLst>
          </p:cNvPr>
          <p:cNvSpPr>
            <a:spLocks noGrp="1"/>
          </p:cNvSpPr>
          <p:nvPr/>
        </p:nvSpPr>
        <p:spPr>
          <a:xfrm>
            <a:off x="641985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Planejamento e controle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1BEC7D-D1A6-4CDC-B4F0-2AF4575E4D64}"/>
              </a:ext>
            </a:extLst>
          </p:cNvPr>
          <p:cNvSpPr>
            <a:spLocks noGrp="1"/>
          </p:cNvSpPr>
          <p:nvPr/>
        </p:nvSpPr>
        <p:spPr>
          <a:xfrm>
            <a:off x="641985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Capacidade de equipe, componentes serializados, custos e integrações ampliadas.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6DE0FA4-C862-4A30-A8B0-C50B9B691E21}"/>
              </a:ext>
            </a:extLst>
          </p:cNvPr>
          <p:cNvSpPr>
            <a:spLocks noGrp="1"/>
          </p:cNvSpPr>
          <p:nvPr/>
        </p:nvSpPr>
        <p:spPr>
          <a:xfrm>
            <a:off x="57150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CACF04-C295-4F6E-B877-87A94C013F91}"/>
              </a:ext>
            </a:extLst>
          </p:cNvPr>
          <p:cNvSpPr>
            <a:spLocks noGrp="1"/>
          </p:cNvSpPr>
          <p:nvPr/>
        </p:nvSpPr>
        <p:spPr>
          <a:xfrm>
            <a:off x="80010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Gestão de longo prazo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45E824-54BC-42B6-8943-BEDE44342C8D}"/>
              </a:ext>
            </a:extLst>
          </p:cNvPr>
          <p:cNvSpPr>
            <a:spLocks noGrp="1"/>
          </p:cNvSpPr>
          <p:nvPr/>
        </p:nvSpPr>
        <p:spPr>
          <a:xfrm>
            <a:off x="80010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Previsões, orçamento, desempenho de componentes e otimização de estratégia.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2E3FFF5-4E36-4003-8CA1-7F1D618957E0}"/>
              </a:ext>
            </a:extLst>
          </p:cNvPr>
          <p:cNvSpPr>
            <a:spLocks noGrp="1"/>
          </p:cNvSpPr>
          <p:nvPr/>
        </p:nvSpPr>
        <p:spPr>
          <a:xfrm>
            <a:off x="619125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278D09-8D99-4C4F-8AC5-30FA03174B05}"/>
              </a:ext>
            </a:extLst>
          </p:cNvPr>
          <p:cNvSpPr>
            <a:spLocks noGrp="1"/>
          </p:cNvSpPr>
          <p:nvPr/>
        </p:nvSpPr>
        <p:spPr>
          <a:xfrm>
            <a:off x="641985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Expansão comercial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16E620-C16B-4009-AA76-DFBBDB5B1544}"/>
              </a:ext>
            </a:extLst>
          </p:cNvPr>
          <p:cNvSpPr>
            <a:spLocks noGrp="1"/>
          </p:cNvSpPr>
          <p:nvPr/>
        </p:nvSpPr>
        <p:spPr>
          <a:xfrm>
            <a:off x="641985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Contratos, locação, recuperação de componentes e grandes paradas, conforme demanda.</a:t>
            </a:r>
          </a:p>
        </p:txBody>
      </p:sp>
    </p:spTree>
    <p:extLst>
      <p:ext uri="{BB962C8B-B14F-4D97-AF65-F5344CB8AC3E}">
        <p14:creationId xmlns:p14="http://schemas.microsoft.com/office/powerpoint/2010/main" val="908195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1173187-C57E-44B2-8ED1-6E4ACFD904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F25D71-3DF1-46D1-B227-DE8B8A961C37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202124"/>
                </a:solidFill>
              </a:defRPr>
            </a:defPPr>
          </a:lstStyle>
          <a:p>
            <a:pPr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LumiMining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A521F7-B45D-4E31-BB3D-4B23E6A1651E}"/>
              </a:ext>
            </a:extLst>
          </p:cNvPr>
          <p:cNvSpPr>
            <a:spLocks noGrp="1"/>
          </p:cNvSpPr>
          <p:nvPr/>
        </p:nvSpPr>
        <p:spPr>
          <a:xfrm>
            <a:off x="9620250" y="1428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97586"/>
                </a:solidFill>
              </a:defRPr>
            </a:defPPr>
          </a:lstStyle>
          <a:p>
            <a:pPr>
              <a:defRPr sz="1275" b="0">
                <a:solidFill>
                  <a:srgbClr val="697586"/>
                </a:solidFill>
              </a:defRPr>
            </a:pPr>
            <a:r>
              <a:rPr sz="1275" b="0">
                <a:solidFill>
                  <a:srgbClr val="697586"/>
                </a:solidFill>
              </a:rPr>
              <a:t>Asset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135670-8165-4E05-BFAC-78BACB2AEC4C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2124"/>
                </a:solidFill>
              </a:defRPr>
            </a:defPPr>
          </a:lstStyle>
          <a:p>
            <a:pPr>
              <a:defRPr sz="3300" b="1">
                <a:solidFill>
                  <a:srgbClr val="202124"/>
                </a:solidFill>
              </a:defRPr>
            </a:pPr>
            <a:r>
              <a:rPr sz="3300" b="1">
                <a:solidFill>
                  <a:srgbClr val="202124"/>
                </a:solidFill>
              </a:rPr>
              <a:t>Critérios para validar o piloto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61A362-36A8-4AB4-B7FF-CECD10E5D64F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1081087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97586"/>
                </a:solidFill>
              </a:defRPr>
            </a:defPPr>
          </a:lstStyle>
          <a:p>
            <a:pPr>
              <a:defRPr sz="1875" b="0">
                <a:solidFill>
                  <a:srgbClr val="697586"/>
                </a:solidFill>
              </a:defRPr>
            </a:pPr>
            <a:r>
              <a:rPr sz="1875" b="0">
                <a:solidFill>
                  <a:srgbClr val="697586"/>
                </a:solidFill>
              </a:rPr>
              <a:t>Proposta de validação com usuários de manutenção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ED169B-050A-467A-8AAC-5876052070A8}"/>
              </a:ext>
            </a:extLst>
          </p:cNvPr>
          <p:cNvSpPr>
            <a:spLocks noGrp="1"/>
          </p:cNvSpPr>
          <p:nvPr/>
        </p:nvSpPr>
        <p:spPr>
          <a:xfrm>
            <a:off x="666750" y="63531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97586"/>
                </a:solidFill>
              </a:defRPr>
            </a:defPPr>
          </a:lstStyle>
          <a:p>
            <a:pPr>
              <a:defRPr sz="1200" b="0">
                <a:solidFill>
                  <a:srgbClr val="697586"/>
                </a:solidFill>
              </a:defRPr>
            </a:pPr>
            <a:r>
              <a:rPr sz="1200" b="0">
                <a:solidFill>
                  <a:srgbClr val="697586"/>
                </a:solidFill>
              </a:rPr>
              <a:t>LumiMining · Estrutura CMMS · 15 outubro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552D83-7A8C-4559-86EC-2E5DFA3AEEFE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0866EF"/>
                </a:solidFill>
              </a:defRPr>
            </a:defPPr>
          </a:lstStyle>
          <a:p>
            <a:pPr>
              <a:defRPr sz="1350" b="1">
                <a:solidFill>
                  <a:srgbClr val="0866EF"/>
                </a:solidFill>
              </a:defRPr>
            </a:pPr>
            <a:r>
              <a:rPr sz="1350" b="1">
                <a:solidFill>
                  <a:srgbClr val="0866EF"/>
                </a:solidFill>
              </a:rPr>
              <a:t>13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7F70D1-03CA-4FBA-9A8F-CE8ADC248FAF}"/>
              </a:ext>
            </a:extLst>
          </p:cNvPr>
          <p:cNvSpPr>
            <a:spLocks noGrp="1"/>
          </p:cNvSpPr>
          <p:nvPr/>
        </p:nvSpPr>
        <p:spPr>
          <a:xfrm>
            <a:off x="57150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847393-31B8-483C-B014-588AD0773F14}"/>
              </a:ext>
            </a:extLst>
          </p:cNvPr>
          <p:cNvSpPr>
            <a:spLocks noGrp="1"/>
          </p:cNvSpPr>
          <p:nvPr/>
        </p:nvSpPr>
        <p:spPr>
          <a:xfrm>
            <a:off x="80010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Fluxo completo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DE17F1-2C36-4A0E-AFF7-AA4878E4C5DD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Demanda vinculada à OS, execução registrada e encerramento verificado.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E9B022F-5480-4108-B162-4383D4EC729B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08C376-AE28-4428-A6F7-7BAF8E78F3D5}"/>
              </a:ext>
            </a:extLst>
          </p:cNvPr>
          <p:cNvSpPr>
            <a:spLocks noGrp="1"/>
          </p:cNvSpPr>
          <p:nvPr/>
        </p:nvSpPr>
        <p:spPr>
          <a:xfrm>
            <a:off x="6419850" y="26003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Dados e integração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115773-3680-441D-A549-98C8BBB2AB1C}"/>
              </a:ext>
            </a:extLst>
          </p:cNvPr>
          <p:cNvSpPr>
            <a:spLocks noGrp="1"/>
          </p:cNvSpPr>
          <p:nvPr/>
        </p:nvSpPr>
        <p:spPr>
          <a:xfrm>
            <a:off x="6419850" y="306705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Identificação consistente, trilha de auditoria e reenvio sem duplicação.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8F69428-AA39-4B2B-8B33-57A648386242}"/>
              </a:ext>
            </a:extLst>
          </p:cNvPr>
          <p:cNvSpPr>
            <a:spLocks noGrp="1"/>
          </p:cNvSpPr>
          <p:nvPr/>
        </p:nvSpPr>
        <p:spPr>
          <a:xfrm>
            <a:off x="57150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F0562C-7146-457A-BB78-51E51A7162AC}"/>
              </a:ext>
            </a:extLst>
          </p:cNvPr>
          <p:cNvSpPr>
            <a:spLocks noGrp="1"/>
          </p:cNvSpPr>
          <p:nvPr/>
        </p:nvSpPr>
        <p:spPr>
          <a:xfrm>
            <a:off x="80010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Uso no campo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3F6E76-3676-45D0-A277-FE048E9EDC99}"/>
              </a:ext>
            </a:extLst>
          </p:cNvPr>
          <p:cNvSpPr>
            <a:spLocks noGrp="1"/>
          </p:cNvSpPr>
          <p:nvPr/>
        </p:nvSpPr>
        <p:spPr>
          <a:xfrm>
            <a:off x="80010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Técnicos conseguem registrar o serviço na conectividade disponível.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D215464-0BA3-432C-8166-C3AE299A376A}"/>
              </a:ext>
            </a:extLst>
          </p:cNvPr>
          <p:cNvSpPr>
            <a:spLocks noGrp="1"/>
          </p:cNvSpPr>
          <p:nvPr/>
        </p:nvSpPr>
        <p:spPr>
          <a:xfrm>
            <a:off x="6191250" y="4238625"/>
            <a:ext cx="542925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26D841-3488-4CA1-815B-0E96302EB672}"/>
              </a:ext>
            </a:extLst>
          </p:cNvPr>
          <p:cNvSpPr>
            <a:spLocks noGrp="1"/>
          </p:cNvSpPr>
          <p:nvPr/>
        </p:nvSpPr>
        <p:spPr>
          <a:xfrm>
            <a:off x="6419850" y="44100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866EF"/>
                </a:solidFill>
              </a:defRPr>
            </a:defPPr>
          </a:lstStyle>
          <a:p>
            <a:pPr>
              <a:defRPr sz="2025" b="1">
                <a:solidFill>
                  <a:srgbClr val="0866EF"/>
                </a:solidFill>
              </a:defRPr>
            </a:pPr>
            <a:r>
              <a:rPr sz="2025" b="1">
                <a:solidFill>
                  <a:srgbClr val="0866EF"/>
                </a:solidFill>
              </a:rPr>
              <a:t>Resultado mensurável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40BCCD-0144-44CA-8AC6-480F899AAFEB}"/>
              </a:ext>
            </a:extLst>
          </p:cNvPr>
          <p:cNvSpPr>
            <a:spLocks noGrp="1"/>
          </p:cNvSpPr>
          <p:nvPr/>
        </p:nvSpPr>
        <p:spPr>
          <a:xfrm>
            <a:off x="6419850" y="4876800"/>
            <a:ext cx="49530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Acompanhar adoção, backlog vencido e cumprimento da programação.</a:t>
            </a:r>
          </a:p>
        </p:txBody>
      </p:sp>
    </p:spTree>
    <p:extLst>
      <p:ext uri="{BB962C8B-B14F-4D97-AF65-F5344CB8AC3E}">
        <p14:creationId xmlns:p14="http://schemas.microsoft.com/office/powerpoint/2010/main" val="831975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84A18CB-9178-4B89-BD61-805028670A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F3A144-273D-4D90-99CD-4D450789CF0C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202124"/>
                </a:solidFill>
              </a:defRPr>
            </a:defPPr>
          </a:lstStyle>
          <a:p>
            <a:pPr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LumiMining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71A07F-FFB0-4F84-AF9E-AAB9B0A0EE72}"/>
              </a:ext>
            </a:extLst>
          </p:cNvPr>
          <p:cNvSpPr>
            <a:spLocks noGrp="1"/>
          </p:cNvSpPr>
          <p:nvPr/>
        </p:nvSpPr>
        <p:spPr>
          <a:xfrm>
            <a:off x="9620250" y="1428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97586"/>
                </a:solidFill>
              </a:defRPr>
            </a:defPPr>
          </a:lstStyle>
          <a:p>
            <a:pPr>
              <a:defRPr sz="1275" b="0">
                <a:solidFill>
                  <a:srgbClr val="697586"/>
                </a:solidFill>
              </a:defRPr>
            </a:pPr>
            <a:r>
              <a:rPr sz="1275" b="0">
                <a:solidFill>
                  <a:srgbClr val="697586"/>
                </a:solidFill>
              </a:rPr>
              <a:t>Asset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A5C066-C07D-47CE-8A8C-4801FC62A9C7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2124"/>
                </a:solidFill>
              </a:defRPr>
            </a:defPPr>
          </a:lstStyle>
          <a:p>
            <a:pPr>
              <a:defRPr sz="3300" b="1">
                <a:solidFill>
                  <a:srgbClr val="202124"/>
                </a:solidFill>
              </a:defRPr>
            </a:pPr>
            <a:r>
              <a:rPr sz="3300" b="1">
                <a:solidFill>
                  <a:srgbClr val="202124"/>
                </a:solidFill>
              </a:rPr>
              <a:t>Decisões para avançar com o Wilton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29CC3-86EC-4A15-9014-44BBC5C162A3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1081087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97586"/>
                </a:solidFill>
              </a:defRPr>
            </a:defPPr>
          </a:lstStyle>
          <a:p>
            <a:pPr>
              <a:defRPr sz="1875" b="0">
                <a:solidFill>
                  <a:srgbClr val="697586"/>
                </a:solidFill>
              </a:defRPr>
            </a:pPr>
            <a:r>
              <a:rPr sz="1875" b="0">
                <a:solidFill>
                  <a:srgbClr val="697586"/>
                </a:solidFill>
              </a:rPr>
              <a:t>Acordos necessários para transformar a estrutura em uma primeira entrega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D86D3-52D4-4C6A-9F9C-B800326EB2D1}"/>
              </a:ext>
            </a:extLst>
          </p:cNvPr>
          <p:cNvSpPr>
            <a:spLocks noGrp="1"/>
          </p:cNvSpPr>
          <p:nvPr/>
        </p:nvSpPr>
        <p:spPr>
          <a:xfrm>
            <a:off x="666750" y="635317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97586"/>
                </a:solidFill>
              </a:defRPr>
            </a:defPPr>
          </a:lstStyle>
          <a:p>
            <a:pPr>
              <a:defRPr sz="1200" b="0">
                <a:solidFill>
                  <a:srgbClr val="697586"/>
                </a:solidFill>
              </a:defRPr>
            </a:pPr>
            <a:r>
              <a:rPr sz="1200" b="0">
                <a:solidFill>
                  <a:srgbClr val="697586"/>
                </a:solidFill>
              </a:rPr>
              <a:t>LumiMining · Estrutura CMMS · 15 outubro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7B2640-F1A1-49D6-8FC3-6AA4CAE75A20}"/>
              </a:ext>
            </a:extLst>
          </p:cNvPr>
          <p:cNvSpPr>
            <a:spLocks noGrp="1"/>
          </p:cNvSpPr>
          <p:nvPr/>
        </p:nvSpPr>
        <p:spPr>
          <a:xfrm>
            <a:off x="11144250" y="63246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0866EF"/>
                </a:solidFill>
              </a:defRPr>
            </a:defPPr>
          </a:lstStyle>
          <a:p>
            <a:pPr>
              <a:defRPr sz="1350" b="1">
                <a:solidFill>
                  <a:srgbClr val="0866EF"/>
                </a:solidFill>
              </a:defRPr>
            </a:pPr>
            <a:r>
              <a:rPr sz="1350" b="1">
                <a:solidFill>
                  <a:srgbClr val="0866EF"/>
                </a:solidFill>
              </a:rPr>
              <a:t>14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AA287DB-611E-4B05-9605-3530785FA1B2}"/>
              </a:ext>
            </a:extLst>
          </p:cNvPr>
          <p:cNvSpPr>
            <a:spLocks noGrp="1"/>
          </p:cNvSpPr>
          <p:nvPr/>
        </p:nvSpPr>
        <p:spPr>
          <a:xfrm>
            <a:off x="571500" y="25050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A07CDF-DFA4-45E2-A24C-778B4B2AF411}"/>
              </a:ext>
            </a:extLst>
          </p:cNvPr>
          <p:cNvSpPr>
            <a:spLocks noGrp="1"/>
          </p:cNvSpPr>
          <p:nvPr/>
        </p:nvSpPr>
        <p:spPr>
          <a:xfrm>
            <a:off x="762000" y="26003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866EF"/>
                </a:solidFill>
              </a:defRPr>
            </a:defPPr>
          </a:lstStyle>
          <a:p>
            <a:pPr>
              <a:defRPr sz="1950" b="1">
                <a:solidFill>
                  <a:srgbClr val="0866EF"/>
                </a:solidFill>
              </a:defRPr>
            </a:pPr>
            <a:r>
              <a:rPr sz="1950" b="1">
                <a:solidFill>
                  <a:srgbClr val="0866EF"/>
                </a:solidFill>
              </a:rPr>
              <a:t>Cliente e cenário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6DE271-ED97-4E6E-BF8B-37358E9B22E5}"/>
              </a:ext>
            </a:extLst>
          </p:cNvPr>
          <p:cNvSpPr>
            <a:spLocks noGrp="1"/>
          </p:cNvSpPr>
          <p:nvPr/>
        </p:nvSpPr>
        <p:spPr>
          <a:xfrm>
            <a:off x="3810000" y="2600325"/>
            <a:ext cx="7572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Escolher operação, classe de ativo e fluxo de manutenção do piloto.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80929D6-AE2C-410C-B205-7497E592EA07}"/>
              </a:ext>
            </a:extLst>
          </p:cNvPr>
          <p:cNvSpPr>
            <a:spLocks noGrp="1"/>
          </p:cNvSpPr>
          <p:nvPr/>
        </p:nvSpPr>
        <p:spPr>
          <a:xfrm>
            <a:off x="571500" y="33432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499BAB-FD74-4E0C-A501-890255A53D8D}"/>
              </a:ext>
            </a:extLst>
          </p:cNvPr>
          <p:cNvSpPr>
            <a:spLocks noGrp="1"/>
          </p:cNvSpPr>
          <p:nvPr/>
        </p:nvSpPr>
        <p:spPr>
          <a:xfrm>
            <a:off x="762000" y="34385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866EF"/>
                </a:solidFill>
              </a:defRPr>
            </a:defPPr>
          </a:lstStyle>
          <a:p>
            <a:pPr>
              <a:defRPr sz="1950" b="1">
                <a:solidFill>
                  <a:srgbClr val="0866EF"/>
                </a:solidFill>
              </a:defRPr>
            </a:pPr>
            <a:r>
              <a:rPr sz="1950" b="1">
                <a:solidFill>
                  <a:srgbClr val="0866EF"/>
                </a:solidFill>
              </a:rPr>
              <a:t>Escopo e fronteiras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26F533-FA97-4BBC-9F0E-75CB9FBC0D08}"/>
              </a:ext>
            </a:extLst>
          </p:cNvPr>
          <p:cNvSpPr>
            <a:spLocks noGrp="1"/>
          </p:cNvSpPr>
          <p:nvPr/>
        </p:nvSpPr>
        <p:spPr>
          <a:xfrm>
            <a:off x="3810000" y="3438525"/>
            <a:ext cx="7572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Confirmar funções essenciais, dados mestres e integrações obrigatórias.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4BEBD51-FC7B-4D05-8E9A-F816D3DDD2F5}"/>
              </a:ext>
            </a:extLst>
          </p:cNvPr>
          <p:cNvSpPr>
            <a:spLocks noGrp="1"/>
          </p:cNvSpPr>
          <p:nvPr/>
        </p:nvSpPr>
        <p:spPr>
          <a:xfrm>
            <a:off x="571500" y="41814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474BAF-1784-4F3B-8730-D32DABD4630E}"/>
              </a:ext>
            </a:extLst>
          </p:cNvPr>
          <p:cNvSpPr>
            <a:spLocks noGrp="1"/>
          </p:cNvSpPr>
          <p:nvPr/>
        </p:nvSpPr>
        <p:spPr>
          <a:xfrm>
            <a:off x="762000" y="42767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866EF"/>
                </a:solidFill>
              </a:defRPr>
            </a:defPPr>
          </a:lstStyle>
          <a:p>
            <a:pPr>
              <a:defRPr sz="1950" b="1">
                <a:solidFill>
                  <a:srgbClr val="0866EF"/>
                </a:solidFill>
              </a:defRPr>
            </a:pPr>
            <a:r>
              <a:rPr sz="1950" b="1">
                <a:solidFill>
                  <a:srgbClr val="0866EF"/>
                </a:solidFill>
              </a:rPr>
              <a:t>Responsabilidades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354E35-D94C-42B0-9A8F-CCB4A3A6EE67}"/>
              </a:ext>
            </a:extLst>
          </p:cNvPr>
          <p:cNvSpPr>
            <a:spLocks noGrp="1"/>
          </p:cNvSpPr>
          <p:nvPr/>
        </p:nvSpPr>
        <p:spPr>
          <a:xfrm>
            <a:off x="3810000" y="4276725"/>
            <a:ext cx="7572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Hallen conduz regras e aceite. Wilton avalia arquitetura e dependências.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462080B-BC23-4E5C-9897-C707F4D3B188}"/>
              </a:ext>
            </a:extLst>
          </p:cNvPr>
          <p:cNvSpPr>
            <a:spLocks noGrp="1"/>
          </p:cNvSpPr>
          <p:nvPr/>
        </p:nvSpPr>
        <p:spPr>
          <a:xfrm>
            <a:off x="571500" y="50196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ADFE6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FD0D73-DA65-4D6C-8E9A-BAD1EF572BC2}"/>
              </a:ext>
            </a:extLst>
          </p:cNvPr>
          <p:cNvSpPr>
            <a:spLocks noGrp="1"/>
          </p:cNvSpPr>
          <p:nvPr/>
        </p:nvSpPr>
        <p:spPr>
          <a:xfrm>
            <a:off x="762000" y="51149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866EF"/>
                </a:solidFill>
              </a:defRPr>
            </a:defPPr>
          </a:lstStyle>
          <a:p>
            <a:pPr>
              <a:defRPr sz="1950" b="1">
                <a:solidFill>
                  <a:srgbClr val="0866EF"/>
                </a:solidFill>
              </a:defRPr>
            </a:pPr>
            <a:r>
              <a:rPr sz="1950" b="1">
                <a:solidFill>
                  <a:srgbClr val="0866EF"/>
                </a:solidFill>
              </a:rPr>
              <a:t>Próxima revisão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46F2D5-5250-41B3-AE6E-B4779F719E9A}"/>
              </a:ext>
            </a:extLst>
          </p:cNvPr>
          <p:cNvSpPr>
            <a:spLocks noGrp="1"/>
          </p:cNvSpPr>
          <p:nvPr/>
        </p:nvSpPr>
        <p:spPr>
          <a:xfrm>
            <a:off x="3810000" y="5114925"/>
            <a:ext cx="7572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2124"/>
                </a:solidFill>
              </a:defRPr>
            </a:defPPr>
          </a:lstStyle>
          <a:p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Validar o fluxo e as telas iniciais, com responsáveis e data combinados.</a:t>
            </a:r>
          </a:p>
        </p:txBody>
      </p:sp>
    </p:spTree>
    <p:extLst>
      <p:ext uri="{BB962C8B-B14F-4D97-AF65-F5344CB8AC3E}">
        <p14:creationId xmlns:p14="http://schemas.microsoft.com/office/powerpoint/2010/main" val="14787465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EB0B01124B2540B9AC79F50077503C" ma:contentTypeVersion="12" ma:contentTypeDescription="Create a new document." ma:contentTypeScope="" ma:versionID="8dcfbf1f55fa66e5111f17132cc9d962">
  <xsd:schema xmlns:xsd="http://www.w3.org/2001/XMLSchema" xmlns:xs="http://www.w3.org/2001/XMLSchema" xmlns:p="http://schemas.microsoft.com/office/2006/metadata/properties" xmlns:ns2="bdde08cc-8e7f-4748-bf53-d093e62b1bfa" xmlns:ns3="bb3c688b-c4a9-4c78-9f7c-9cb7217e28c6" targetNamespace="http://schemas.microsoft.com/office/2006/metadata/properties" ma:root="true" ma:fieldsID="aab1676aa9119f331a69f08d531d6d5f" ns2:_="" ns3:_="">
    <xsd:import namespace="bdde08cc-8e7f-4748-bf53-d093e62b1bfa"/>
    <xsd:import namespace="bb3c688b-c4a9-4c78-9f7c-9cb7217e28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Department" minOccurs="0"/>
                <xsd:element ref="ns2:ReviewDate" minOccurs="0"/>
                <xsd:element ref="ns2:Document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de08cc-8e7f-4748-bf53-d093e62b1b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c995850-dfac-42b4-a098-777acd5953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Department" ma:index="17" nillable="true" ma:displayName="Department" ma:format="Dropdown" ma:internalName="Department">
      <xsd:simpleType>
        <xsd:restriction base="dms:Text">
          <xsd:maxLength value="255"/>
        </xsd:restriction>
      </xsd:simpleType>
    </xsd:element>
    <xsd:element name="ReviewDate" ma:index="18" nillable="true" ma:displayName="ReviewDate" ma:default="[today]" ma:format="DateTime" ma:internalName="ReviewDate">
      <xsd:simpleType>
        <xsd:restriction base="dms:DateTime"/>
      </xsd:simpleType>
    </xsd:element>
    <xsd:element name="DocumentVersion" ma:index="19" nillable="true" ma:displayName="DocumentVersion" ma:format="Dropdown" ma:internalName="DocumentVersion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3c688b-c4a9-4c78-9f7c-9cb7217e28c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2dacd8c-b6a6-44b1-83ce-9e0774f2cf1c}" ma:internalName="TaxCatchAll" ma:showField="CatchAllData" ma:web="bb3c688b-c4a9-4c78-9f7c-9cb7217e28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dde08cc-8e7f-4748-bf53-d093e62b1bfa">
      <Terms xmlns="http://schemas.microsoft.com/office/infopath/2007/PartnerControls"/>
    </lcf76f155ced4ddcb4097134ff3c332f>
    <TaxCatchAll xmlns="bb3c688b-c4a9-4c78-9f7c-9cb7217e28c6" xsi:nil="true"/>
    <DocumentVersion xmlns="bdde08cc-8e7f-4748-bf53-d093e62b1bfa" xsi:nil="true"/>
    <Department xmlns="bdde08cc-8e7f-4748-bf53-d093e62b1bfa" xsi:nil="true"/>
    <ReviewDate xmlns="bdde08cc-8e7f-4748-bf53-d093e62b1bfa">2026-10-18T17:29:51+00:00</ReviewDate>
  </documentManagement>
</p:properties>
</file>

<file path=customXml/itemProps1.xml><?xml version="1.0" encoding="utf-8"?>
<ds:datastoreItem xmlns:ds="http://schemas.openxmlformats.org/officeDocument/2006/customXml" ds:itemID="{83EE76C7-5A95-4A58-B0AD-4B1C0E90B429}"/>
</file>

<file path=customXml/itemProps2.xml><?xml version="1.0" encoding="utf-8"?>
<ds:datastoreItem xmlns:ds="http://schemas.openxmlformats.org/officeDocument/2006/customXml" ds:itemID="{3BB02332-05D6-4994-93DC-1553A726A4FE}"/>
</file>

<file path=customXml/itemProps3.xml><?xml version="1.0" encoding="utf-8"?>
<ds:datastoreItem xmlns:ds="http://schemas.openxmlformats.org/officeDocument/2006/customXml" ds:itemID="{F514F529-CD2C-4116-89E2-77E3C1049C4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2695</Words>
  <Application>Microsoft Macintosh PowerPoint</Application>
  <DocSecurity>0</DocSecurity>
  <PresentationFormat>Widescreen</PresentationFormat>
  <Paragraphs>221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Hallen Neris</cp:lastModifiedBy>
  <cp:revision>1</cp:revision>
  <dcterms:created xsi:type="dcterms:W3CDTF">2026-10-15T14:56:58Z</dcterms:created>
  <dcterms:modified xsi:type="dcterms:W3CDTF">2026-10-17T06:29:04Z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0x010100BBEB0B01124B2540B9AC79F50077503C</vt:lpwstr>
  </property>
</Properties>
</file>